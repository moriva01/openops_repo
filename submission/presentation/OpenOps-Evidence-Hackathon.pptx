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a403ad17574284" /><Relationship Type="http://schemas.openxmlformats.org/officeDocument/2006/relationships/extended-properties" Target="/docProps/app.xml" Id="R7f6998579e35484a" /><Relationship Type="http://schemas.openxmlformats.org/officeDocument/2006/relationships/officeDocument" Target="/ppt/presentation.xml" Id="Rbae582cdeab44710" /></Relationships>
</file>

<file path=ppt/presentation.xml><?xml version="1.0" encoding="utf-8"?>
<p:presentation xmlns:p="http://schemas.openxmlformats.org/presentationml/2006/main">
  <p:sldMasterIdLst>
    <p:sldMasterId xmlns:r="http://schemas.openxmlformats.org/officeDocument/2006/relationships" id="2147483648" r:id="Re5749dc55ffe43b9"/>
  </p:sldMasterIdLst>
  <p:notesMasterIdLst>
    <p:notesMasterId xmlns:r="http://schemas.openxmlformats.org/officeDocument/2006/relationships" r:id="Rb0dd5d1a0a9946d1"/>
  </p:notesMasterIdLst>
  <p:sldIdLst>
    <p:sldId xmlns:r="http://schemas.openxmlformats.org/officeDocument/2006/relationships" id="256" r:id="R2e351f8d97cf4a72"/>
    <p:sldId xmlns:r="http://schemas.openxmlformats.org/officeDocument/2006/relationships" id="257" r:id="R23ffe2b8d0db4559"/>
    <p:sldId xmlns:r="http://schemas.openxmlformats.org/officeDocument/2006/relationships" id="258" r:id="R5898d41506744a71"/>
    <p:sldId xmlns:r="http://schemas.openxmlformats.org/officeDocument/2006/relationships" id="259" r:id="R895ae55dc86547ff"/>
    <p:sldId xmlns:r="http://schemas.openxmlformats.org/officeDocument/2006/relationships" id="260" r:id="Re6cbd504fbd24cc3"/>
    <p:sldId xmlns:r="http://schemas.openxmlformats.org/officeDocument/2006/relationships" id="261" r:id="Rbe16ad4783414c6d"/>
    <p:sldId xmlns:r="http://schemas.openxmlformats.org/officeDocument/2006/relationships" id="262" r:id="Rd47795420f7e48aa"/>
    <p:sldId xmlns:r="http://schemas.openxmlformats.org/officeDocument/2006/relationships" id="263" r:id="R9100128d312e42ee"/>
    <p:sldId xmlns:r="http://schemas.openxmlformats.org/officeDocument/2006/relationships" id="264" r:id="Rd83d52c7d61c45d4"/>
    <p:sldId xmlns:r="http://schemas.openxmlformats.org/officeDocument/2006/relationships" id="265" r:id="Rc129afd1808c4781"/>
    <p:sldId xmlns:r="http://schemas.openxmlformats.org/officeDocument/2006/relationships" id="266" r:id="R1ad266d60c934dbd"/>
    <p:sldId xmlns:r="http://schemas.openxmlformats.org/officeDocument/2006/relationships" id="267" r:id="R3036998ef2e049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a5aad3d6c249bd" /><Relationship Type="http://schemas.openxmlformats.org/officeDocument/2006/relationships/slideMaster" Target="/ppt/slideMasters/slideMaster1.xml" Id="Re5749dc55ffe43b9" /><Relationship Type="http://schemas.openxmlformats.org/officeDocument/2006/relationships/notesMaster" Target="/ppt/notesMasters/notesMaster1.xml" Id="Rb0dd5d1a0a9946d1" /><Relationship Type="http://schemas.openxmlformats.org/officeDocument/2006/relationships/presProps" Target="/ppt/presProps.xml" Id="R1b1bd7ebd0c94f92" /><Relationship Type="http://schemas.openxmlformats.org/officeDocument/2006/relationships/tableStyles" Target="/ppt/tableStyles.xml" Id="R9c3cf73ef75441d4" /><Relationship Type="http://schemas.openxmlformats.org/officeDocument/2006/relationships/slide" Target="/ppt/slides/slide1.xml" Id="R2e351f8d97cf4a72" /><Relationship Type="http://schemas.openxmlformats.org/officeDocument/2006/relationships/slide" Target="/ppt/slides/slide2.xml" Id="R23ffe2b8d0db4559" /><Relationship Type="http://schemas.openxmlformats.org/officeDocument/2006/relationships/slide" Target="/ppt/slides/slide3.xml" Id="R5898d41506744a71" /><Relationship Type="http://schemas.openxmlformats.org/officeDocument/2006/relationships/slide" Target="/ppt/slides/slide4.xml" Id="R895ae55dc86547ff" /><Relationship Type="http://schemas.openxmlformats.org/officeDocument/2006/relationships/slide" Target="/ppt/slides/slide5.xml" Id="Re6cbd504fbd24cc3" /><Relationship Type="http://schemas.openxmlformats.org/officeDocument/2006/relationships/slide" Target="/ppt/slides/slide6.xml" Id="Rbe16ad4783414c6d" /><Relationship Type="http://schemas.openxmlformats.org/officeDocument/2006/relationships/slide" Target="/ppt/slides/slide7.xml" Id="Rd47795420f7e48aa" /><Relationship Type="http://schemas.openxmlformats.org/officeDocument/2006/relationships/slide" Target="/ppt/slides/slide8.xml" Id="R9100128d312e42ee" /><Relationship Type="http://schemas.openxmlformats.org/officeDocument/2006/relationships/slide" Target="/ppt/slides/slide9.xml" Id="Rd83d52c7d61c45d4" /><Relationship Type="http://schemas.openxmlformats.org/officeDocument/2006/relationships/slide" Target="/ppt/slides/slide10.xml" Id="Rc129afd1808c4781" /><Relationship Type="http://schemas.openxmlformats.org/officeDocument/2006/relationships/slide" Target="/ppt/slides/slide11.xml" Id="R1ad266d60c934dbd" /><Relationship Type="http://schemas.openxmlformats.org/officeDocument/2006/relationships/slide" Target="/ppt/slides/slide12.xml" Id="R3036998ef2e049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3e7b10f79749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99482e0a53414f" /><Relationship Type="http://schemas.openxmlformats.org/officeDocument/2006/relationships/notesMaster" Target="/ppt/notesMasters/notesMaster1.xml" Id="Reef5e9c7324141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c050c324ab4315" /><Relationship Type="http://schemas.openxmlformats.org/officeDocument/2006/relationships/notesMaster" Target="/ppt/notesMasters/notesMaster1.xml" Id="R448e4785bc1e49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c3cad682564408" /><Relationship Type="http://schemas.openxmlformats.org/officeDocument/2006/relationships/notesMaster" Target="/ppt/notesMasters/notesMaster1.xml" Id="Rf862d931982740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b04db67c494d4c" /><Relationship Type="http://schemas.openxmlformats.org/officeDocument/2006/relationships/notesMaster" Target="/ppt/notesMasters/notesMaster1.xml" Id="R4ac982119e5c4b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121473e9c64f3c" /><Relationship Type="http://schemas.openxmlformats.org/officeDocument/2006/relationships/notesMaster" Target="/ppt/notesMasters/notesMaster1.xml" Id="Rc042fb4733d846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28ef143e9342d3" /><Relationship Type="http://schemas.openxmlformats.org/officeDocument/2006/relationships/notesMaster" Target="/ppt/notesMasters/notesMaster1.xml" Id="R9c4564d20d504c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252c0710474e3a" /><Relationship Type="http://schemas.openxmlformats.org/officeDocument/2006/relationships/notesMaster" Target="/ppt/notesMasters/notesMaster1.xml" Id="Raf4341a57b0843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713e5bd9d5452b" /><Relationship Type="http://schemas.openxmlformats.org/officeDocument/2006/relationships/notesMaster" Target="/ppt/notesMasters/notesMaster1.xml" Id="R4bbb579a21b643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dee75ddfe34a50" /><Relationship Type="http://schemas.openxmlformats.org/officeDocument/2006/relationships/notesMaster" Target="/ppt/notesMasters/notesMaster1.xml" Id="Raaed5ee3b45f43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876f9185c04862" /><Relationship Type="http://schemas.openxmlformats.org/officeDocument/2006/relationships/notesMaster" Target="/ppt/notesMasters/notesMaster1.xml" Id="R71b015039c694d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9ca7abed674a12" /><Relationship Type="http://schemas.openxmlformats.org/officeDocument/2006/relationships/notesMaster" Target="/ppt/notesMasters/notesMaster1.xml" Id="R7005a6f7ecc046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b20cf0132d46a5" /><Relationship Type="http://schemas.openxmlformats.org/officeDocument/2006/relationships/notesMaster" Target="/ppt/notesMasters/notesMaster1.xml" Id="Rb15847a8240b4f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OpenOps Evidence is an original monitoring and incident investigation prototype. Ivan Moreno built the solo submission. The demonstration uses synthetic telecom usage records and actual Linux host telemetry. Introduce the product through the operator problem rather than a claim of measured savings.</a:t>
            </a:r>
          </a:p>
          <a:p xmlns:a="http://schemas.openxmlformats.org/drawingml/2006/main">
            <a:r>
              <a:t/>
            </a:r>
          </a:p>
          <a:p xmlns:a="http://schemas.openxmlformats.org/drawingml/2006/main">
            <a:r>
              <a:t>Sources: README.md; apps/openops/PROJECT_BRIEF.md; docs/01-architecture.md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users are small operations teams and managed service providers running Linux applications. The live scenario demonstrates a service that remains active while its VOICE output is disabled. A process-up check cannot explain the queue. Operators need application configuration, queue behavior and host health together. Reduced investigation effort is a product hypothesis, not a measured result.</a:t>
            </a:r>
          </a:p>
          <a:p xmlns:a="http://schemas.openxmlformats.org/drawingml/2006/main">
            <a:r>
              <a:t/>
            </a:r>
          </a:p>
          <a:p xmlns:a="http://schemas.openxmlformats.org/drawingml/2006/main">
            <a:r>
              <a:t>Sources: apps/telemediation-convergent/telemediation/core.py; docs/10-ai-investigation.md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demonstration, the operator disables VOICE output and sends synthetic voice, SMS and data records. The default monitor evaluates voice pending above zero sustained for 60 seconds. The collector samples every 15 seconds. Allow roughly 90 seconds in the lab for the sustained condition to appear, rather than claiming fixed detection latency. An acknowledgement links an existing external ticket and does not resolve the alert. Re-enabling VOICE drains the queue, and two distinct healthy samples resolve the alert and enqueue a recovery notification.</a:t>
            </a:r>
          </a:p>
          <a:p xmlns:a="http://schemas.openxmlformats.org/drawingml/2006/main">
            <a:r>
              <a:t/>
            </a:r>
          </a:p>
          <a:p xmlns:a="http://schemas.openxmlformats.org/drawingml/2006/main">
            <a:r>
              <a:t>Sources: docs/07-testing-and-troubleshooting.md; docs/12-webhook-circuit-demo.md; docs/13-outgoing-webhooks-and-teams.md; apps/openops/receiver/monitor_logic.py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Machine A is the separate Linux monitored node. TeleMediation runs API, mediation and delivery systemd services on Python 3.9+. Its collector samples host and application state and uses a durable SQLite spool. Machine B is Windows with Docker Desktop. OpenOps receiver, evaluator and PostgreSQL run in containers. Zetaris runs its own separate containers and metastore. Nightshift runs natively on Windows and routes generation to hosted NVIDIA. The ingestion API is port 8096, TeleMediation UI/API is 8095, Zetaris UI is 3000 and Nightshift Runtime is 8088. The OpenOps database stays private on the Docker network. Monitors and investigators query the registered view through Zetaris. Portal charts independently read stored PostgreSQL telemetry.</a:t>
            </a:r>
          </a:p>
          <a:p xmlns:a="http://schemas.openxmlformats.org/drawingml/2006/main">
            <a:r>
              <a:t/>
            </a:r>
          </a:p>
          <a:p xmlns:a="http://schemas.openxmlformats.org/drawingml/2006/main">
            <a:r>
              <a:t>Sources: docs/01-architecture.md; docs/02-infrastructure.md; docs/05-connections-and-credentials.md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Zetaris serves the registered read-only openops_pg.monitor_samples view for monitor evaluation and investigation tools. This demonstration has one registered data source, not demonstrated federation across independent external systems. Charts use PostgreSQL directly, as disclosed. The World Model is a minimal adaptation of the Meterless reference architecture implementing WorldStoreService, IngestPipelineService and ContextBuilderService. Nightshift handles the bounded generation roles and retains routed provider receipts. NVIDIA Nemotron supplies actual hosted generation. Requested model names alone are not proof of routed providers; inspect receipts in a completed run.</a:t>
            </a:r>
          </a:p>
          <a:p xmlns:a="http://schemas.openxmlformats.org/drawingml/2006/main">
            <a:r>
              <a:t/>
            </a:r>
          </a:p>
          <a:p xmlns:a="http://schemas.openxmlformats.org/drawingml/2006/main">
            <a:r>
              <a:t>Sources: docs/10-ai-investigation.md; apps/openops/receiver/zetaris.py; apps/openops/receiver/world_model.py; apps/openops/receiver/nightshift.py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selects tools from a closed list. The implementation also applies an explicit required-evidence policy, so not every choice is model autonomous. Fixed SQL tools retrieve at most three evidence queries in a bounded host/time window. The World Model maintains stable source-linked observations and isolated incident contexts. The investigator proposes hypotheses and alternatives, while the evaluator checks support and can request one revision. Structural citation validation ensures source IDs exist, but it cannot prove factual entailment. A report can be insufficient_evidence or needs_review. At most five model calls and one revision fit a 200-second attempt budget. Provider timeouts and interrupted runs stay explicit. No remediation executes.</a:t>
            </a:r>
          </a:p>
          <a:p xmlns:a="http://schemas.openxmlformats.org/drawingml/2006/main">
            <a:r>
              <a:t/>
            </a:r>
          </a:p>
          <a:p xmlns:a="http://schemas.openxmlformats.org/drawingml/2006/main">
            <a:r>
              <a:t>Sources: docs/10-ai-investigation.md; apps/openops/receiver/investigation_engine.py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screenshot captured from the running reinstalled OpenOps portal after the participant completed the incident and recovery tests. It shows one reporting host, application up and no active alerts. Account identity and the host address/client metadata are hidden in this screenshot. Navigation includes Overview, Monitors, Alerts, Activity and Admin. Roles are admin, manager and operator. Admin controls users, clients, hosts, ticket servers, user-owned tokens and connectors. Generic webhook and Teams notifications support opening and recovery. The screenshot is a lab snapshot, not evidence of production scale.</a:t>
            </a:r>
          </a:p>
          <a:p xmlns:a="http://schemas.openxmlformats.org/drawingml/2006/main">
            <a:r>
              <a:t/>
            </a:r>
          </a:p>
          <a:p xmlns:a="http://schemas.openxmlformats.org/drawingml/2006/main">
            <a:r>
              <a:t>Sources: assets/overview.png, captured 26 October 2026 America/Bogota; apps/openops/receiver/index.html; docs/11-console-and-administration.md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is an excerpt of a completed historical VOICE investigation from the running reinstalled portal. It proposes disabled VOICE output as a supported hypothesis while the application and mediation processes remain active. The report cites immutable observation IDs. The visible high-confidence label is model output, not calibrated accuracy or causal proof. Alternative explanations, missing evidence, recommended checks, evaluator verdict and receipts remain inspectable in the full portal report. The participant confirmed the real provider investigation and recovery circuit during reinstall testing. No new investigation was triggered to produce this image.</a:t>
            </a:r>
          </a:p>
          <a:p xmlns:a="http://schemas.openxmlformats.org/drawingml/2006/main">
            <a:r>
              <a:t/>
            </a:r>
          </a:p>
          <a:p xmlns:a="http://schemas.openxmlformats.org/drawingml/2006/main">
            <a:r>
              <a:t>Sources: assets/investigation.png, captured from the actual completed report; docs/10-ai-investigation.md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participant performed a fresh Windows deployment from public repository commit a2ebf74 and used a newly installed Linux VM. They confirmed host telemetry, the portal, real AI investigation, outbound webhook, client and ticket-server configuration, and alert recovery. The container restart test reached healthy Zetaris state and resumed evaluation after a manual receiver restart. This is participant-reported end-to-end validation plus inspected logs, not an independently rerun production certification. Root offline examples have three deterministic synthetic cases and ten standard-library tests in the recorded validation. These scripted cases do not call live sponsor services and are not a live model-accuracy benchmark. Previously recorded backend tests are documented separately; do not imply all tests were rerun during deck creation.</a:t>
            </a:r>
          </a:p>
          <a:p xmlns:a="http://schemas.openxmlformats.org/drawingml/2006/main">
            <a:r>
              <a:t/>
            </a:r>
          </a:p>
          <a:p xmlns:a="http://schemas.openxmlformats.org/drawingml/2006/main">
            <a:r>
              <a:t>Sources: docs/08-operations-and-migration.md#windows-restart-order; docs/15-offline-examples.md; tools/verify_examples.py; tests/test_samples.py; participant reinstall and restart results, 26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product positioning and target users, not measured business outcomes or claims of novelty against named competitors. The differentiation combines deterministic alert transitions, bounded evidence gathering, persisted incident context, evaluator feedback and an inspectable delivery history in one small deployment. Operators can inspect what supports an explanation before choosing any repair. The initial commercial hypothesis is a hosted or self-managed service for small Linux operations teams and managed service providers. No pricing, paying customers, measured time savings or production-scale claims have been established. A pilot should measure time to a useful explanation, unsupported assertions and notification delivery, using predeclared criteria.</a:t>
            </a:r>
          </a:p>
          <a:p xmlns:a="http://schemas.openxmlformats.org/drawingml/2006/main">
            <a:r>
              <a:t/>
            </a:r>
          </a:p>
          <a:p xmlns:a="http://schemas.openxmlformats.org/drawingml/2006/main">
            <a:r>
              <a:t>Sources: apps/openops/PROJECT_BRIEF.md; docs/14-submission-readiness.md; docs/10-ai-investigation.md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already supports multiple host records but the reproduced live demonstration uses one monitored host. Broader testing is future work. Priority one is automatic Zetaris session recovery and dependency readiness. A later pilot can add an independent evidence system such as an external ticket API instead of only storing ticket references. Tenant isolation, provider security hardening and delivery load tests remain production work. Evaluate investigation usefulness with a larger labeled incident corpus and human review. The project does not execute autonomous remediation, has not proven causal correctness and has no established production scale or measured time savings. These boundaries should remain visible in a standalone deck.</a:t>
            </a:r>
          </a:p>
          <a:p xmlns:a="http://schemas.openxmlformats.org/drawingml/2006/main">
            <a:r>
              <a:t/>
            </a:r>
          </a:p>
          <a:p xmlns:a="http://schemas.openxmlformats.org/drawingml/2006/main">
            <a:r>
              <a:t>Sources: docs/08-operations-and-migration.md; docs/10-ai-investigation.md; docs/14-submission-readiness.md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inviting judges to inspect the repository, reproduce the synthetic offline examples and follow the two-machine installation guides for the real sponsor-backed workflow. Offline mode uses scripted responses and SQLite. It does not replace live sponsor validation. For the live demonstration, show the VOICE fault, sustained alert, real provider-backed investigation, outgoing webhook and healthy recovery. Credentials and signed webhook URLs must remain private. The repository contains the English source, installers, architecture, usage guides and example traces. The deck is a local review draft until the participant approves publication.</a:t>
            </a:r>
          </a:p>
          <a:p xmlns:a="http://schemas.openxmlformats.org/drawingml/2006/main">
            <a:r>
              <a:t/>
            </a:r>
          </a:p>
          <a:p xmlns:a="http://schemas.openxmlformats.org/drawingml/2006/main">
            <a:r>
              <a:t>Sources: https://github.com/moriva01/openops_repo; README.md; docs/03-monitored-machine-installation.md; docs/04-monitoring-center-installation.md; docs/15-offline-examples.md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0a32ea67ff45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591c0b39ed40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59746696c244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d2788a71e141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c2c53f218548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8ee9505ba046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7EA5B9-F106-4FDA-B94D-AFCE993E17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83A90B-72D0-4932-8139-B8DA6CB768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E2CE17-0A0D-4BC6-91C9-CB22849B534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ECC99A-F845-425D-83F1-9D261C202C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57A370-01C3-4376-A7F6-3C33BB7F803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CB5FCE-6FA9-4DEA-ADFD-5ABBF7F417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69293D-D8AF-4712-821C-B76F30AB4C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F0A46F-0AFE-4CF1-98B2-B11022F73C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4C0C84-7C17-4727-A9AC-DC64BD9161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4A0E75-510F-4F79-AEC3-8AAC464DF0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3aefea4ce74157" /><Relationship Type="http://schemas.openxmlformats.org/officeDocument/2006/relationships/slideLayout" Target="/ppt/slideLayouts/slideLayout1.xml" Id="Rfbf45a3fdeaf4d8c" /><Relationship Type="http://schemas.openxmlformats.org/officeDocument/2006/relationships/slideLayout" Target="/ppt/slideLayouts/slideLayout2.xml" Id="R4bbd0d811e284e14" /><Relationship Type="http://schemas.openxmlformats.org/officeDocument/2006/relationships/slideLayout" Target="/ppt/slideLayouts/slideLayout3.xml" Id="R76b1c0de004c4d24" /><Relationship Type="http://schemas.openxmlformats.org/officeDocument/2006/relationships/slideLayout" Target="/ppt/slideLayouts/slideLayout4.xml" Id="R18430d9e44584da7" /><Relationship Type="http://schemas.openxmlformats.org/officeDocument/2006/relationships/slideLayout" Target="/ppt/slideLayouts/slideLayout5.xml" Id="Rfd1d6e0990ed412a" /><Relationship Type="http://schemas.openxmlformats.org/officeDocument/2006/relationships/slideLayout" Target="/ppt/slideLayouts/slideLayout6.xml" Id="Rdf932b85526340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f45a3fdeaf4d8c"/>
    <p:sldLayoutId xmlns:r="http://schemas.openxmlformats.org/officeDocument/2006/relationships" id="2147483650" r:id="R4bbd0d811e284e14"/>
    <p:sldLayoutId xmlns:r="http://schemas.openxmlformats.org/officeDocument/2006/relationships" id="2147483651" r:id="R76b1c0de004c4d24"/>
    <p:sldLayoutId xmlns:r="http://schemas.openxmlformats.org/officeDocument/2006/relationships" id="2147483652" r:id="R18430d9e44584da7"/>
    <p:sldLayoutId xmlns:r="http://schemas.openxmlformats.org/officeDocument/2006/relationships" id="2147483653" r:id="Rfd1d6e0990ed412a"/>
    <p:sldLayoutId xmlns:r="http://schemas.openxmlformats.org/officeDocument/2006/relationships" id="2147483654" r:id="Rdf932b85526340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efbcb5c4574de9" /><Relationship Type="http://schemas.openxmlformats.org/officeDocument/2006/relationships/notesSlide" Target="/ppt/notesSlides/notesSlide1.xml" Id="R6faf18f8d5164f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7fb39f7a344950" /><Relationship Type="http://schemas.openxmlformats.org/officeDocument/2006/relationships/notesSlide" Target="/ppt/notesSlides/notesSlide2.xml" Id="R477394971d4544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65164342fa4d08" /><Relationship Type="http://schemas.openxmlformats.org/officeDocument/2006/relationships/notesSlide" Target="/ppt/notesSlides/notesSlide3.xml" Id="R13a957101fd64f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ea60e43cac4265" /><Relationship Type="http://schemas.openxmlformats.org/officeDocument/2006/relationships/notesSlide" Target="/ppt/notesSlides/notesSlide4.xml" Id="Rcdc8c1741f8b4b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a0735f5e894091" /><Relationship Type="http://schemas.openxmlformats.org/officeDocument/2006/relationships/notesSlide" Target="/ppt/notesSlides/notesSlide5.xml" Id="R021af9a4a10142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418d3a1d8e4616" /><Relationship Type="http://schemas.openxmlformats.org/officeDocument/2006/relationships/notesSlide" Target="/ppt/notesSlides/notesSlide6.xml" Id="R48d0d69bfc8a47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cc35f4fb2946d9" /><Relationship Type="http://schemas.openxmlformats.org/officeDocument/2006/relationships/image" Target="/ppt/media/image.png" Id="Rfcb7246b3e2d431c" /><Relationship Type="http://schemas.openxmlformats.org/officeDocument/2006/relationships/notesSlide" Target="/ppt/notesSlides/notesSlide7.xml" Id="R45ab9f81b81646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bea8730ee54d45" /><Relationship Type="http://schemas.openxmlformats.org/officeDocument/2006/relationships/image" Target="/ppt/media/image2.png" Id="Rb2827f1b91094bd3" /><Relationship Type="http://schemas.openxmlformats.org/officeDocument/2006/relationships/notesSlide" Target="/ppt/notesSlides/notesSlide8.xml" Id="R638a0105f7a143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11938a7aa441ee" /><Relationship Type="http://schemas.openxmlformats.org/officeDocument/2006/relationships/notesSlide" Target="/ppt/notesSlides/notesSlide9.xml" Id="Rc084eff728c44e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7b9060a5de4b01" /><Relationship Type="http://schemas.openxmlformats.org/officeDocument/2006/relationships/notesSlide" Target="/ppt/notesSlides/notesSlide10.xml" Id="R521a3096fc004e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e648d2d0c141d2" /><Relationship Type="http://schemas.openxmlformats.org/officeDocument/2006/relationships/notesSlide" Target="/ppt/notesSlides/notesSlide11.xml" Id="R4c254b8c53f64b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fa069582d3461a" /><Relationship Type="http://schemas.openxmlformats.org/officeDocument/2006/relationships/notesSlide" Target="/ppt/notesSlides/notesSlide12.xml" Id="R44768e94995e467a" /></Relationships>
</file>

<file path=ppt/slides/slide1.xml><?xml version="1.0" encoding="utf-8"?>
<p:sld xmlns:p="http://schemas.openxmlformats.org/presentationml/2006/main">
  <p:cSld>
    <p:bg>
      <p:bgPr>
        <a:solidFill xmlns:a="http://schemas.openxmlformats.org/drawingml/2006/main">
          <a:srgbClr val="1022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300656-7A60-46CB-8EF8-64E30F5C78F6}"/>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69D9DF"/>
                </a:solidFill>
                <a:latin typeface="Arial"/>
                <a:ea typeface="Arial"/>
                <a:cs typeface="Arial"/>
              </a:defRPr>
            </a:defPPr>
            <a:lvl1pPr>
              <a:defRPr sz="1275" b="1">
                <a:solidFill>
                  <a:srgbClr val="69D9DF"/>
                </a:solidFill>
                <a:latin typeface="Arial"/>
                <a:ea typeface="Arial"/>
                <a:cs typeface="Arial"/>
              </a:defRPr>
            </a:lvl1pPr>
            <a:lvl2pPr>
              <a:defRPr sz="1275" b="1">
                <a:solidFill>
                  <a:srgbClr val="69D9DF"/>
                </a:solidFill>
                <a:latin typeface="Arial"/>
                <a:ea typeface="Arial"/>
                <a:cs typeface="Arial"/>
              </a:defRPr>
            </a:lvl2pPr>
            <a:lvl3pPr>
              <a:defRPr sz="1275" b="1">
                <a:solidFill>
                  <a:srgbClr val="69D9DF"/>
                </a:solidFill>
                <a:latin typeface="Arial"/>
                <a:ea typeface="Arial"/>
                <a:cs typeface="Arial"/>
              </a:defRPr>
            </a:lvl3pPr>
            <a:lvl4pPr>
              <a:defRPr sz="1275" b="1">
                <a:solidFill>
                  <a:srgbClr val="69D9DF"/>
                </a:solidFill>
                <a:latin typeface="Arial"/>
                <a:ea typeface="Arial"/>
                <a:cs typeface="Arial"/>
              </a:defRPr>
            </a:lvl4pPr>
            <a:lvl5pPr>
              <a:defRPr sz="1275" b="1">
                <a:solidFill>
                  <a:srgbClr val="69D9DF"/>
                </a:solidFill>
                <a:latin typeface="Arial"/>
                <a:ea typeface="Arial"/>
                <a:cs typeface="Arial"/>
              </a:defRPr>
            </a:lvl5pPr>
            <a:lvl6pPr>
              <a:defRPr sz="1275" b="1">
                <a:solidFill>
                  <a:srgbClr val="69D9DF"/>
                </a:solidFill>
                <a:latin typeface="Arial"/>
                <a:ea typeface="Arial"/>
                <a:cs typeface="Arial"/>
              </a:defRPr>
            </a:lvl6pPr>
            <a:lvl7pPr>
              <a:defRPr sz="1275" b="1">
                <a:solidFill>
                  <a:srgbClr val="69D9DF"/>
                </a:solidFill>
                <a:latin typeface="Arial"/>
                <a:ea typeface="Arial"/>
                <a:cs typeface="Arial"/>
              </a:defRPr>
            </a:lvl7pPr>
            <a:lvl8pPr>
              <a:defRPr sz="1275" b="1">
                <a:solidFill>
                  <a:srgbClr val="69D9DF"/>
                </a:solidFill>
                <a:latin typeface="Arial"/>
                <a:ea typeface="Arial"/>
                <a:cs typeface="Arial"/>
              </a:defRPr>
            </a:lvl8pPr>
            <a:lvl9pPr>
              <a:defRPr sz="1275" b="1">
                <a:solidFill>
                  <a:srgbClr val="69D9DF"/>
                </a:solidFill>
                <a:latin typeface="Arial"/>
                <a:ea typeface="Arial"/>
                <a:cs typeface="Arial"/>
              </a:defRPr>
            </a:lvl9pPr>
          </a:lstStyle>
          <a:p xmlns:a="http://schemas.openxmlformats.org/drawingml/2006/main">
            <a:pPr>
              <a:defRPr sz="1275" b="1">
                <a:solidFill>
                  <a:srgbClr val="69D9DF"/>
                </a:solidFill>
                <a:latin typeface="Arial"/>
                <a:ea typeface="Arial"/>
                <a:cs typeface="Arial"/>
              </a:defRPr>
            </a:pPr>
            <a:r>
              <a:rPr sz="1275" b="1">
                <a:solidFill>
                  <a:srgbClr val="69D9DF"/>
                </a:solidFill>
                <a:latin typeface="Arial"/>
                <a:ea typeface="Arial"/>
                <a:cs typeface="Arial"/>
              </a:rPr>
              <a:t>OPEN AGENT HACKATHON 2026</a:t>
            </a:r>
          </a:p>
        </p:txBody>
      </p:sp>
      <p:sp>
        <p:nvSpPr>
          <p:cNvPr id="2" name="">
            <a:extLst xmlns:a="http://schemas.openxmlformats.org/drawingml/2006/main">
              <a:ext uri="{FF2B5EF4-FFF2-40B4-BE49-F238E27FC236}">
                <a16:creationId xmlns:a16="http://schemas.microsoft.com/office/drawing/2014/main" id="{4D2BD8C6-196C-48DE-806C-A7AD639ED57F}"/>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B8CFDC"/>
                </a:solidFill>
                <a:latin typeface="Arial"/>
                <a:ea typeface="Arial"/>
                <a:cs typeface="Arial"/>
              </a:defRPr>
            </a:defPPr>
            <a:lvl1pPr>
              <a:defRPr sz="1125" b="0">
                <a:solidFill>
                  <a:srgbClr val="B8CFDC"/>
                </a:solidFill>
                <a:latin typeface="Arial"/>
                <a:ea typeface="Arial"/>
                <a:cs typeface="Arial"/>
              </a:defRPr>
            </a:lvl1pPr>
            <a:lvl2pPr>
              <a:defRPr sz="1125" b="0">
                <a:solidFill>
                  <a:srgbClr val="B8CFDC"/>
                </a:solidFill>
                <a:latin typeface="Arial"/>
                <a:ea typeface="Arial"/>
                <a:cs typeface="Arial"/>
              </a:defRPr>
            </a:lvl2pPr>
            <a:lvl3pPr>
              <a:defRPr sz="1125" b="0">
                <a:solidFill>
                  <a:srgbClr val="B8CFDC"/>
                </a:solidFill>
                <a:latin typeface="Arial"/>
                <a:ea typeface="Arial"/>
                <a:cs typeface="Arial"/>
              </a:defRPr>
            </a:lvl3pPr>
            <a:lvl4pPr>
              <a:defRPr sz="1125" b="0">
                <a:solidFill>
                  <a:srgbClr val="B8CFDC"/>
                </a:solidFill>
                <a:latin typeface="Arial"/>
                <a:ea typeface="Arial"/>
                <a:cs typeface="Arial"/>
              </a:defRPr>
            </a:lvl4pPr>
            <a:lvl5pPr>
              <a:defRPr sz="1125" b="0">
                <a:solidFill>
                  <a:srgbClr val="B8CFDC"/>
                </a:solidFill>
                <a:latin typeface="Arial"/>
                <a:ea typeface="Arial"/>
                <a:cs typeface="Arial"/>
              </a:defRPr>
            </a:lvl5pPr>
            <a:lvl6pPr>
              <a:defRPr sz="1125" b="0">
                <a:solidFill>
                  <a:srgbClr val="B8CFDC"/>
                </a:solidFill>
                <a:latin typeface="Arial"/>
                <a:ea typeface="Arial"/>
                <a:cs typeface="Arial"/>
              </a:defRPr>
            </a:lvl6pPr>
            <a:lvl7pPr>
              <a:defRPr sz="1125" b="0">
                <a:solidFill>
                  <a:srgbClr val="B8CFDC"/>
                </a:solidFill>
                <a:latin typeface="Arial"/>
                <a:ea typeface="Arial"/>
                <a:cs typeface="Arial"/>
              </a:defRPr>
            </a:lvl7pPr>
            <a:lvl8pPr>
              <a:defRPr sz="1125" b="0">
                <a:solidFill>
                  <a:srgbClr val="B8CFDC"/>
                </a:solidFill>
                <a:latin typeface="Arial"/>
                <a:ea typeface="Arial"/>
                <a:cs typeface="Arial"/>
              </a:defRPr>
            </a:lvl8pPr>
            <a:lvl9pPr>
              <a:defRPr sz="1125" b="0">
                <a:solidFill>
                  <a:srgbClr val="B8CFDC"/>
                </a:solidFill>
                <a:latin typeface="Arial"/>
                <a:ea typeface="Arial"/>
                <a:cs typeface="Arial"/>
              </a:defRPr>
            </a:lvl9pPr>
          </a:lstStyle>
          <a:p xmlns:a="http://schemas.openxmlformats.org/drawingml/2006/main">
            <a:pPr>
              <a:defRPr sz="1125" b="0">
                <a:solidFill>
                  <a:srgbClr val="B8CFDC"/>
                </a:solidFill>
                <a:latin typeface="Arial"/>
                <a:ea typeface="Arial"/>
                <a:cs typeface="Arial"/>
              </a:defRPr>
            </a:pPr>
            <a:r>
              <a:rPr sz="1125" b="0">
                <a:solidFill>
                  <a:srgbClr val="B8CFDC"/>
                </a:solidFill>
                <a:latin typeface="Arial"/>
                <a:ea typeface="Arial"/>
                <a:cs typeface="Arial"/>
              </a:rPr>
              <a:t>OpenOps Evidence</a:t>
            </a:r>
          </a:p>
        </p:txBody>
      </p:sp>
      <p:sp>
        <p:nvSpPr>
          <p:cNvPr id="3" name="">
            <a:extLst xmlns:a="http://schemas.openxmlformats.org/drawingml/2006/main">
              <a:ext uri="{FF2B5EF4-FFF2-40B4-BE49-F238E27FC236}">
                <a16:creationId xmlns:a16="http://schemas.microsoft.com/office/drawing/2014/main" id="{18CB9DAD-C30D-457C-9BE0-A67D78F9CDAA}"/>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B8CFDC"/>
                </a:solidFill>
                <a:latin typeface="Arial"/>
                <a:ea typeface="Arial"/>
                <a:cs typeface="Arial"/>
              </a:defRPr>
            </a:defPPr>
            <a:lvl1pPr>
              <a:defRPr sz="1125" b="0">
                <a:solidFill>
                  <a:srgbClr val="B8CFDC"/>
                </a:solidFill>
                <a:latin typeface="Arial"/>
                <a:ea typeface="Arial"/>
                <a:cs typeface="Arial"/>
              </a:defRPr>
            </a:lvl1pPr>
            <a:lvl2pPr>
              <a:defRPr sz="1125" b="0">
                <a:solidFill>
                  <a:srgbClr val="B8CFDC"/>
                </a:solidFill>
                <a:latin typeface="Arial"/>
                <a:ea typeface="Arial"/>
                <a:cs typeface="Arial"/>
              </a:defRPr>
            </a:lvl2pPr>
            <a:lvl3pPr>
              <a:defRPr sz="1125" b="0">
                <a:solidFill>
                  <a:srgbClr val="B8CFDC"/>
                </a:solidFill>
                <a:latin typeface="Arial"/>
                <a:ea typeface="Arial"/>
                <a:cs typeface="Arial"/>
              </a:defRPr>
            </a:lvl3pPr>
            <a:lvl4pPr>
              <a:defRPr sz="1125" b="0">
                <a:solidFill>
                  <a:srgbClr val="B8CFDC"/>
                </a:solidFill>
                <a:latin typeface="Arial"/>
                <a:ea typeface="Arial"/>
                <a:cs typeface="Arial"/>
              </a:defRPr>
            </a:lvl4pPr>
            <a:lvl5pPr>
              <a:defRPr sz="1125" b="0">
                <a:solidFill>
                  <a:srgbClr val="B8CFDC"/>
                </a:solidFill>
                <a:latin typeface="Arial"/>
                <a:ea typeface="Arial"/>
                <a:cs typeface="Arial"/>
              </a:defRPr>
            </a:lvl5pPr>
            <a:lvl6pPr>
              <a:defRPr sz="1125" b="0">
                <a:solidFill>
                  <a:srgbClr val="B8CFDC"/>
                </a:solidFill>
                <a:latin typeface="Arial"/>
                <a:ea typeface="Arial"/>
                <a:cs typeface="Arial"/>
              </a:defRPr>
            </a:lvl6pPr>
            <a:lvl7pPr>
              <a:defRPr sz="1125" b="0">
                <a:solidFill>
                  <a:srgbClr val="B8CFDC"/>
                </a:solidFill>
                <a:latin typeface="Arial"/>
                <a:ea typeface="Arial"/>
                <a:cs typeface="Arial"/>
              </a:defRPr>
            </a:lvl7pPr>
            <a:lvl8pPr>
              <a:defRPr sz="1125" b="0">
                <a:solidFill>
                  <a:srgbClr val="B8CFDC"/>
                </a:solidFill>
                <a:latin typeface="Arial"/>
                <a:ea typeface="Arial"/>
                <a:cs typeface="Arial"/>
              </a:defRPr>
            </a:lvl8pPr>
            <a:lvl9pPr>
              <a:defRPr sz="1125" b="0">
                <a:solidFill>
                  <a:srgbClr val="B8CFDC"/>
                </a:solidFill>
                <a:latin typeface="Arial"/>
                <a:ea typeface="Arial"/>
                <a:cs typeface="Arial"/>
              </a:defRPr>
            </a:lvl9pPr>
          </a:lstStyle>
          <a:p xmlns:a="http://schemas.openxmlformats.org/drawingml/2006/main">
            <a:pPr>
              <a:defRPr sz="1125" b="0">
                <a:solidFill>
                  <a:srgbClr val="B8CFDC"/>
                </a:solidFill>
                <a:latin typeface="Arial"/>
                <a:ea typeface="Arial"/>
                <a:cs typeface="Arial"/>
              </a:defRPr>
            </a:pPr>
            <a:r>
              <a:rPr sz="1125" b="0">
                <a:solidFill>
                  <a:srgbClr val="B8CFD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22E07E1-F9E8-495A-9182-E0B834B68813}"/>
              </a:ext>
            </a:extLst>
          </p:cNvPr>
          <p:cNvSpPr>
            <a:spLocks xmlns:a="http://schemas.openxmlformats.org/drawingml/2006/main" noGrp="1"/>
          </p:cNvSpPr>
          <p:nvPr/>
        </p:nvSpPr>
        <p:spPr>
          <a:xfrm xmlns:a="http://schemas.openxmlformats.org/drawingml/2006/main">
            <a:off x="609600" y="1809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OpenOps Evidence</a:t>
            </a:r>
          </a:p>
        </p:txBody>
      </p:sp>
      <p:sp>
        <p:nvSpPr>
          <p:cNvPr id="5" name="">
            <a:extLst xmlns:a="http://schemas.openxmlformats.org/drawingml/2006/main">
              <a:ext uri="{FF2B5EF4-FFF2-40B4-BE49-F238E27FC236}">
                <a16:creationId xmlns:a16="http://schemas.microsoft.com/office/drawing/2014/main" id="{9613E41E-0507-4ADE-8E81-94F510936D3E}"/>
              </a:ext>
            </a:extLst>
          </p:cNvPr>
          <p:cNvSpPr>
            <a:spLocks xmlns:a="http://schemas.openxmlformats.org/drawingml/2006/main" noGrp="1"/>
          </p:cNvSpPr>
          <p:nvPr/>
        </p:nvSpPr>
        <p:spPr>
          <a:xfrm xmlns:a="http://schemas.openxmlformats.org/drawingml/2006/main">
            <a:off x="647700" y="29908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69D9DF"/>
                </a:solidFill>
                <a:latin typeface="Arial"/>
                <a:ea typeface="Arial"/>
                <a:cs typeface="Arial"/>
              </a:defRPr>
            </a:defPPr>
            <a:lvl1pPr>
              <a:defRPr sz="2925" b="0">
                <a:solidFill>
                  <a:srgbClr val="69D9DF"/>
                </a:solidFill>
                <a:latin typeface="Arial"/>
                <a:ea typeface="Arial"/>
                <a:cs typeface="Arial"/>
              </a:defRPr>
            </a:lvl1pPr>
            <a:lvl2pPr>
              <a:defRPr sz="2925" b="0">
                <a:solidFill>
                  <a:srgbClr val="69D9DF"/>
                </a:solidFill>
                <a:latin typeface="Arial"/>
                <a:ea typeface="Arial"/>
                <a:cs typeface="Arial"/>
              </a:defRPr>
            </a:lvl2pPr>
            <a:lvl3pPr>
              <a:defRPr sz="2925" b="0">
                <a:solidFill>
                  <a:srgbClr val="69D9DF"/>
                </a:solidFill>
                <a:latin typeface="Arial"/>
                <a:ea typeface="Arial"/>
                <a:cs typeface="Arial"/>
              </a:defRPr>
            </a:lvl3pPr>
            <a:lvl4pPr>
              <a:defRPr sz="2925" b="0">
                <a:solidFill>
                  <a:srgbClr val="69D9DF"/>
                </a:solidFill>
                <a:latin typeface="Arial"/>
                <a:ea typeface="Arial"/>
                <a:cs typeface="Arial"/>
              </a:defRPr>
            </a:lvl4pPr>
            <a:lvl5pPr>
              <a:defRPr sz="2925" b="0">
                <a:solidFill>
                  <a:srgbClr val="69D9DF"/>
                </a:solidFill>
                <a:latin typeface="Arial"/>
                <a:ea typeface="Arial"/>
                <a:cs typeface="Arial"/>
              </a:defRPr>
            </a:lvl5pPr>
            <a:lvl6pPr>
              <a:defRPr sz="2925" b="0">
                <a:solidFill>
                  <a:srgbClr val="69D9DF"/>
                </a:solidFill>
                <a:latin typeface="Arial"/>
                <a:ea typeface="Arial"/>
                <a:cs typeface="Arial"/>
              </a:defRPr>
            </a:lvl6pPr>
            <a:lvl7pPr>
              <a:defRPr sz="2925" b="0">
                <a:solidFill>
                  <a:srgbClr val="69D9DF"/>
                </a:solidFill>
                <a:latin typeface="Arial"/>
                <a:ea typeface="Arial"/>
                <a:cs typeface="Arial"/>
              </a:defRPr>
            </a:lvl7pPr>
            <a:lvl8pPr>
              <a:defRPr sz="2925" b="0">
                <a:solidFill>
                  <a:srgbClr val="69D9DF"/>
                </a:solidFill>
                <a:latin typeface="Arial"/>
                <a:ea typeface="Arial"/>
                <a:cs typeface="Arial"/>
              </a:defRPr>
            </a:lvl8pPr>
            <a:lvl9pPr>
              <a:defRPr sz="2925" b="0">
                <a:solidFill>
                  <a:srgbClr val="69D9DF"/>
                </a:solidFill>
                <a:latin typeface="Arial"/>
                <a:ea typeface="Arial"/>
                <a:cs typeface="Arial"/>
              </a:defRPr>
            </a:lvl9pPr>
          </a:lstStyle>
          <a:p xmlns:a="http://schemas.openxmlformats.org/drawingml/2006/main">
            <a:pPr>
              <a:defRPr sz="2925" b="0">
                <a:solidFill>
                  <a:srgbClr val="69D9DF"/>
                </a:solidFill>
                <a:latin typeface="Arial"/>
                <a:ea typeface="Arial"/>
                <a:cs typeface="Arial"/>
              </a:defRPr>
            </a:pPr>
            <a:r>
              <a:rPr sz="2925" b="0">
                <a:solidFill>
                  <a:srgbClr val="69D9DF"/>
                </a:solidFill>
                <a:latin typeface="Arial"/>
                <a:ea typeface="Arial"/>
                <a:cs typeface="Arial"/>
              </a:rPr>
              <a:t>Evidence-backed incident investigation</a:t>
            </a:r>
          </a:p>
        </p:txBody>
      </p:sp>
      <p:sp>
        <p:nvSpPr>
          <p:cNvPr id="6" name="">
            <a:extLst xmlns:a="http://schemas.openxmlformats.org/drawingml/2006/main">
              <a:ext uri="{FF2B5EF4-FFF2-40B4-BE49-F238E27FC236}">
                <a16:creationId xmlns:a16="http://schemas.microsoft.com/office/drawing/2014/main" id="{3E76B503-B8A3-4DE0-8331-400E8B57CEFE}"/>
              </a:ext>
            </a:extLst>
          </p:cNvPr>
          <p:cNvSpPr>
            <a:spLocks xmlns:a="http://schemas.openxmlformats.org/drawingml/2006/main" noGrp="1"/>
          </p:cNvSpPr>
          <p:nvPr/>
        </p:nvSpPr>
        <p:spPr>
          <a:xfrm xmlns:a="http://schemas.openxmlformats.org/drawingml/2006/main">
            <a:off x="647700" y="39052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D5E4EC"/>
                </a:solidFill>
                <a:latin typeface="Arial"/>
                <a:ea typeface="Arial"/>
                <a:cs typeface="Arial"/>
              </a:defRPr>
            </a:defPPr>
            <a:lvl1pPr>
              <a:defRPr sz="2250" b="0">
                <a:solidFill>
                  <a:srgbClr val="D5E4EC"/>
                </a:solidFill>
                <a:latin typeface="Arial"/>
                <a:ea typeface="Arial"/>
                <a:cs typeface="Arial"/>
              </a:defRPr>
            </a:lvl1pPr>
            <a:lvl2pPr>
              <a:defRPr sz="2250" b="0">
                <a:solidFill>
                  <a:srgbClr val="D5E4EC"/>
                </a:solidFill>
                <a:latin typeface="Arial"/>
                <a:ea typeface="Arial"/>
                <a:cs typeface="Arial"/>
              </a:defRPr>
            </a:lvl2pPr>
            <a:lvl3pPr>
              <a:defRPr sz="2250" b="0">
                <a:solidFill>
                  <a:srgbClr val="D5E4EC"/>
                </a:solidFill>
                <a:latin typeface="Arial"/>
                <a:ea typeface="Arial"/>
                <a:cs typeface="Arial"/>
              </a:defRPr>
            </a:lvl3pPr>
            <a:lvl4pPr>
              <a:defRPr sz="2250" b="0">
                <a:solidFill>
                  <a:srgbClr val="D5E4EC"/>
                </a:solidFill>
                <a:latin typeface="Arial"/>
                <a:ea typeface="Arial"/>
                <a:cs typeface="Arial"/>
              </a:defRPr>
            </a:lvl4pPr>
            <a:lvl5pPr>
              <a:defRPr sz="2250" b="0">
                <a:solidFill>
                  <a:srgbClr val="D5E4EC"/>
                </a:solidFill>
                <a:latin typeface="Arial"/>
                <a:ea typeface="Arial"/>
                <a:cs typeface="Arial"/>
              </a:defRPr>
            </a:lvl5pPr>
            <a:lvl6pPr>
              <a:defRPr sz="2250" b="0">
                <a:solidFill>
                  <a:srgbClr val="D5E4EC"/>
                </a:solidFill>
                <a:latin typeface="Arial"/>
                <a:ea typeface="Arial"/>
                <a:cs typeface="Arial"/>
              </a:defRPr>
            </a:lvl6pPr>
            <a:lvl7pPr>
              <a:defRPr sz="2250" b="0">
                <a:solidFill>
                  <a:srgbClr val="D5E4EC"/>
                </a:solidFill>
                <a:latin typeface="Arial"/>
                <a:ea typeface="Arial"/>
                <a:cs typeface="Arial"/>
              </a:defRPr>
            </a:lvl7pPr>
            <a:lvl8pPr>
              <a:defRPr sz="2250" b="0">
                <a:solidFill>
                  <a:srgbClr val="D5E4EC"/>
                </a:solidFill>
                <a:latin typeface="Arial"/>
                <a:ea typeface="Arial"/>
                <a:cs typeface="Arial"/>
              </a:defRPr>
            </a:lvl8pPr>
            <a:lvl9pPr>
              <a:defRPr sz="2250" b="0">
                <a:solidFill>
                  <a:srgbClr val="D5E4EC"/>
                </a:solidFill>
                <a:latin typeface="Arial"/>
                <a:ea typeface="Arial"/>
                <a:cs typeface="Arial"/>
              </a:defRPr>
            </a:lvl9pPr>
          </a:lstStyle>
          <a:p xmlns:a="http://schemas.openxmlformats.org/drawingml/2006/main">
            <a:pPr>
              <a:defRPr sz="2250" b="0">
                <a:solidFill>
                  <a:srgbClr val="D5E4EC"/>
                </a:solidFill>
                <a:latin typeface="Arial"/>
                <a:ea typeface="Arial"/>
                <a:cs typeface="Arial"/>
              </a:defRPr>
            </a:pPr>
            <a:r>
              <a:rPr sz="2250" b="0">
                <a:solidFill>
                  <a:srgbClr val="D5E4EC"/>
                </a:solidFill>
                <a:latin typeface="Arial"/>
                <a:ea typeface="Arial"/>
                <a:cs typeface="Arial"/>
              </a:rPr>
              <a:t>Linux monitoring with operator-reviewed AI explanations</a:t>
            </a:r>
          </a:p>
        </p:txBody>
      </p:sp>
      <p:sp>
        <p:nvSpPr>
          <p:cNvPr id="7" name="">
            <a:extLst xmlns:a="http://schemas.openxmlformats.org/drawingml/2006/main">
              <a:ext uri="{FF2B5EF4-FFF2-40B4-BE49-F238E27FC236}">
                <a16:creationId xmlns:a16="http://schemas.microsoft.com/office/drawing/2014/main" id="{430D9309-2D5B-47BF-B917-116F4DB2EA65}"/>
              </a:ext>
            </a:extLst>
          </p:cNvPr>
          <p:cNvSpPr>
            <a:spLocks xmlns:a="http://schemas.openxmlformats.org/drawingml/2006/main" noGrp="1"/>
          </p:cNvSpPr>
          <p:nvPr/>
        </p:nvSpPr>
        <p:spPr>
          <a:xfrm xmlns:a="http://schemas.openxmlformats.org/drawingml/2006/main">
            <a:off x="647700" y="53149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5E4EC"/>
                </a:solidFill>
                <a:latin typeface="Arial"/>
                <a:ea typeface="Arial"/>
                <a:cs typeface="Arial"/>
              </a:defRPr>
            </a:defPPr>
            <a:lvl1pPr>
              <a:defRPr sz="1800" b="0">
                <a:solidFill>
                  <a:srgbClr val="D5E4EC"/>
                </a:solidFill>
                <a:latin typeface="Arial"/>
                <a:ea typeface="Arial"/>
                <a:cs typeface="Arial"/>
              </a:defRPr>
            </a:lvl1pPr>
            <a:lvl2pPr>
              <a:defRPr sz="1800" b="0">
                <a:solidFill>
                  <a:srgbClr val="D5E4EC"/>
                </a:solidFill>
                <a:latin typeface="Arial"/>
                <a:ea typeface="Arial"/>
                <a:cs typeface="Arial"/>
              </a:defRPr>
            </a:lvl2pPr>
            <a:lvl3pPr>
              <a:defRPr sz="1800" b="0">
                <a:solidFill>
                  <a:srgbClr val="D5E4EC"/>
                </a:solidFill>
                <a:latin typeface="Arial"/>
                <a:ea typeface="Arial"/>
                <a:cs typeface="Arial"/>
              </a:defRPr>
            </a:lvl3pPr>
            <a:lvl4pPr>
              <a:defRPr sz="1800" b="0">
                <a:solidFill>
                  <a:srgbClr val="D5E4EC"/>
                </a:solidFill>
                <a:latin typeface="Arial"/>
                <a:ea typeface="Arial"/>
                <a:cs typeface="Arial"/>
              </a:defRPr>
            </a:lvl4pPr>
            <a:lvl5pPr>
              <a:defRPr sz="1800" b="0">
                <a:solidFill>
                  <a:srgbClr val="D5E4EC"/>
                </a:solidFill>
                <a:latin typeface="Arial"/>
                <a:ea typeface="Arial"/>
                <a:cs typeface="Arial"/>
              </a:defRPr>
            </a:lvl5pPr>
            <a:lvl6pPr>
              <a:defRPr sz="1800" b="0">
                <a:solidFill>
                  <a:srgbClr val="D5E4EC"/>
                </a:solidFill>
                <a:latin typeface="Arial"/>
                <a:ea typeface="Arial"/>
                <a:cs typeface="Arial"/>
              </a:defRPr>
            </a:lvl6pPr>
            <a:lvl7pPr>
              <a:defRPr sz="1800" b="0">
                <a:solidFill>
                  <a:srgbClr val="D5E4EC"/>
                </a:solidFill>
                <a:latin typeface="Arial"/>
                <a:ea typeface="Arial"/>
                <a:cs typeface="Arial"/>
              </a:defRPr>
            </a:lvl7pPr>
            <a:lvl8pPr>
              <a:defRPr sz="1800" b="0">
                <a:solidFill>
                  <a:srgbClr val="D5E4EC"/>
                </a:solidFill>
                <a:latin typeface="Arial"/>
                <a:ea typeface="Arial"/>
                <a:cs typeface="Arial"/>
              </a:defRPr>
            </a:lvl8pPr>
            <a:lvl9pPr>
              <a:defRPr sz="1800" b="0">
                <a:solidFill>
                  <a:srgbClr val="D5E4EC"/>
                </a:solidFill>
                <a:latin typeface="Arial"/>
                <a:ea typeface="Arial"/>
                <a:cs typeface="Arial"/>
              </a:defRPr>
            </a:lvl9pPr>
          </a:lstStyle>
          <a:p xmlns:a="http://schemas.openxmlformats.org/drawingml/2006/main">
            <a:pPr>
              <a:defRPr sz="1800" b="0">
                <a:solidFill>
                  <a:srgbClr val="D5E4EC"/>
                </a:solidFill>
                <a:latin typeface="Arial"/>
                <a:ea typeface="Arial"/>
                <a:cs typeface="Arial"/>
              </a:defRPr>
            </a:pPr>
            <a:r>
              <a:rPr sz="1800" b="0">
                <a:solidFill>
                  <a:srgbClr val="D5E4EC"/>
                </a:solidFill>
                <a:latin typeface="Arial"/>
                <a:ea typeface="Arial"/>
                <a:cs typeface="Arial"/>
              </a:rPr>
              <a:t>Ivan Moreno</a:t>
            </a:r>
          </a:p>
          <a:p xmlns:a="http://schemas.openxmlformats.org/drawingml/2006/main">
            <a:pPr>
              <a:defRPr sz="1800" b="0">
                <a:solidFill>
                  <a:srgbClr val="D5E4EC"/>
                </a:solidFill>
                <a:latin typeface="Arial"/>
                <a:ea typeface="Arial"/>
                <a:cs typeface="Arial"/>
              </a:defRPr>
            </a:pPr>
            <a:r>
              <a:rPr sz="1800" b="0">
                <a:solidFill>
                  <a:srgbClr val="D5E4EC"/>
                </a:solidFill>
                <a:latin typeface="Arial"/>
                <a:ea typeface="Arial"/>
                <a:cs typeface="Arial"/>
              </a:rPr>
              <a:t>Solo builder</a:t>
            </a:r>
          </a:p>
        </p:txBody>
      </p:sp>
    </p:spTree>
    <p:extLst>
      <p:ext uri="{BB962C8B-B14F-4D97-AF65-F5344CB8AC3E}">
        <p14:creationId xmlns:p14="http://schemas.microsoft.com/office/powerpoint/2010/main" val="2003317482"/>
      </p:ext>
    </p:extLst>
  </p:cSld>
</p:sld>
</file>

<file path=ppt/slides/slide2.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F6D7D6-5E59-484F-A5E8-0D85658EACFF}"/>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PROBLEM AND USERS</a:t>
            </a:r>
          </a:p>
        </p:txBody>
      </p:sp>
      <p:sp>
        <p:nvSpPr>
          <p:cNvPr id="2" name="">
            <a:extLst xmlns:a="http://schemas.openxmlformats.org/drawingml/2006/main">
              <a:ext uri="{FF2B5EF4-FFF2-40B4-BE49-F238E27FC236}">
                <a16:creationId xmlns:a16="http://schemas.microsoft.com/office/drawing/2014/main" id="{AC659809-C119-49EC-8CFA-F1AA9D6C6544}"/>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A healthy process can still fail delivery</a:t>
            </a:r>
          </a:p>
        </p:txBody>
      </p:sp>
      <p:sp>
        <p:nvSpPr>
          <p:cNvPr id="3" name="">
            <a:extLst xmlns:a="http://schemas.openxmlformats.org/drawingml/2006/main">
              <a:ext uri="{FF2B5EF4-FFF2-40B4-BE49-F238E27FC236}">
                <a16:creationId xmlns:a16="http://schemas.microsoft.com/office/drawing/2014/main" id="{AC4332E7-6C7B-468B-B619-4BD9E5557D80}"/>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8F410E28-1B0C-457A-9033-038325F207BE}"/>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1F20052-BA3D-4CF4-B28B-F9CED78FC31E}"/>
              </a:ext>
            </a:extLst>
          </p:cNvPr>
          <p:cNvSpPr>
            <a:spLocks xmlns:a="http://schemas.openxmlformats.org/drawingml/2006/main" noGrp="1"/>
          </p:cNvSpPr>
          <p:nvPr/>
        </p:nvSpPr>
        <p:spPr>
          <a:xfrm xmlns:a="http://schemas.openxmlformats.org/drawingml/2006/main">
            <a:off x="609600" y="2095500"/>
            <a:ext cx="6286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02236"/>
                </a:solidFill>
                <a:latin typeface="Arial"/>
                <a:ea typeface="Arial"/>
                <a:cs typeface="Arial"/>
              </a:defRPr>
            </a:defPPr>
            <a:lvl1pPr>
              <a:defRPr sz="3150" b="1">
                <a:solidFill>
                  <a:srgbClr val="102236"/>
                </a:solidFill>
                <a:latin typeface="Arial"/>
                <a:ea typeface="Arial"/>
                <a:cs typeface="Arial"/>
              </a:defRPr>
            </a:lvl1pPr>
            <a:lvl2pPr>
              <a:defRPr sz="3150" b="1">
                <a:solidFill>
                  <a:srgbClr val="102236"/>
                </a:solidFill>
                <a:latin typeface="Arial"/>
                <a:ea typeface="Arial"/>
                <a:cs typeface="Arial"/>
              </a:defRPr>
            </a:lvl2pPr>
            <a:lvl3pPr>
              <a:defRPr sz="3150" b="1">
                <a:solidFill>
                  <a:srgbClr val="102236"/>
                </a:solidFill>
                <a:latin typeface="Arial"/>
                <a:ea typeface="Arial"/>
                <a:cs typeface="Arial"/>
              </a:defRPr>
            </a:lvl3pPr>
            <a:lvl4pPr>
              <a:defRPr sz="3150" b="1">
                <a:solidFill>
                  <a:srgbClr val="102236"/>
                </a:solidFill>
                <a:latin typeface="Arial"/>
                <a:ea typeface="Arial"/>
                <a:cs typeface="Arial"/>
              </a:defRPr>
            </a:lvl4pPr>
            <a:lvl5pPr>
              <a:defRPr sz="3150" b="1">
                <a:solidFill>
                  <a:srgbClr val="102236"/>
                </a:solidFill>
                <a:latin typeface="Arial"/>
                <a:ea typeface="Arial"/>
                <a:cs typeface="Arial"/>
              </a:defRPr>
            </a:lvl5pPr>
            <a:lvl6pPr>
              <a:defRPr sz="3150" b="1">
                <a:solidFill>
                  <a:srgbClr val="102236"/>
                </a:solidFill>
                <a:latin typeface="Arial"/>
                <a:ea typeface="Arial"/>
                <a:cs typeface="Arial"/>
              </a:defRPr>
            </a:lvl6pPr>
            <a:lvl7pPr>
              <a:defRPr sz="3150" b="1">
                <a:solidFill>
                  <a:srgbClr val="102236"/>
                </a:solidFill>
                <a:latin typeface="Arial"/>
                <a:ea typeface="Arial"/>
                <a:cs typeface="Arial"/>
              </a:defRPr>
            </a:lvl7pPr>
            <a:lvl8pPr>
              <a:defRPr sz="3150" b="1">
                <a:solidFill>
                  <a:srgbClr val="102236"/>
                </a:solidFill>
                <a:latin typeface="Arial"/>
                <a:ea typeface="Arial"/>
                <a:cs typeface="Arial"/>
              </a:defRPr>
            </a:lvl8pPr>
            <a:lvl9pPr>
              <a:defRPr sz="3150" b="1">
                <a:solidFill>
                  <a:srgbClr val="102236"/>
                </a:solidFill>
                <a:latin typeface="Arial"/>
                <a:ea typeface="Arial"/>
                <a:cs typeface="Arial"/>
              </a:defRPr>
            </a:lvl9pPr>
          </a:lstStyle>
          <a:p xmlns:a="http://schemas.openxmlformats.org/drawingml/2006/main">
            <a:pPr>
              <a:defRPr sz="3150" b="1">
                <a:solidFill>
                  <a:srgbClr val="102236"/>
                </a:solidFill>
                <a:latin typeface="Arial"/>
                <a:ea typeface="Arial"/>
                <a:cs typeface="Arial"/>
              </a:defRPr>
            </a:pPr>
            <a:r>
              <a:rPr sz="3150" b="1">
                <a:solidFill>
                  <a:srgbClr val="102236"/>
                </a:solidFill>
                <a:latin typeface="Arial"/>
                <a:ea typeface="Arial"/>
                <a:cs typeface="Arial"/>
              </a:rPr>
              <a:t>The process is running.</a:t>
            </a:r>
          </a:p>
          <a:p xmlns:a="http://schemas.openxmlformats.org/drawingml/2006/main">
            <a:pPr>
              <a:defRPr sz="3150" b="1">
                <a:solidFill>
                  <a:srgbClr val="102236"/>
                </a:solidFill>
                <a:latin typeface="Arial"/>
                <a:ea typeface="Arial"/>
                <a:cs typeface="Arial"/>
              </a:defRPr>
            </a:pPr>
            <a:r>
              <a:rPr sz="3150" b="1">
                <a:solidFill>
                  <a:srgbClr val="102236"/>
                </a:solidFill>
                <a:latin typeface="Arial"/>
                <a:ea typeface="Arial"/>
                <a:cs typeface="Arial"/>
              </a:rPr>
              <a:t>The VOICE queue keeps growing.</a:t>
            </a:r>
          </a:p>
        </p:txBody>
      </p:sp>
      <p:sp>
        <p:nvSpPr>
          <p:cNvPr id="6" name="">
            <a:extLst xmlns:a="http://schemas.openxmlformats.org/drawingml/2006/main">
              <a:ext uri="{FF2B5EF4-FFF2-40B4-BE49-F238E27FC236}">
                <a16:creationId xmlns:a16="http://schemas.microsoft.com/office/drawing/2014/main" id="{C0AFF9A7-A992-4D42-BCC9-C0976E697F14}"/>
              </a:ext>
            </a:extLst>
          </p:cNvPr>
          <p:cNvSpPr>
            <a:spLocks xmlns:a="http://schemas.openxmlformats.org/drawingml/2006/main" noGrp="1"/>
          </p:cNvSpPr>
          <p:nvPr/>
        </p:nvSpPr>
        <p:spPr>
          <a:xfrm xmlns:a="http://schemas.openxmlformats.org/drawingml/2006/main">
            <a:off x="609600" y="3857625"/>
            <a:ext cx="6191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236"/>
                </a:solidFill>
                <a:latin typeface="Arial"/>
                <a:ea typeface="Arial"/>
                <a:cs typeface="Arial"/>
              </a:defRPr>
            </a:defPPr>
            <a:lvl1pPr>
              <a:defRPr sz="2175" b="0">
                <a:solidFill>
                  <a:srgbClr val="102236"/>
                </a:solidFill>
                <a:latin typeface="Arial"/>
                <a:ea typeface="Arial"/>
                <a:cs typeface="Arial"/>
              </a:defRPr>
            </a:lvl1pPr>
            <a:lvl2pPr>
              <a:defRPr sz="2175" b="0">
                <a:solidFill>
                  <a:srgbClr val="102236"/>
                </a:solidFill>
                <a:latin typeface="Arial"/>
                <a:ea typeface="Arial"/>
                <a:cs typeface="Arial"/>
              </a:defRPr>
            </a:lvl2pPr>
            <a:lvl3pPr>
              <a:defRPr sz="2175" b="0">
                <a:solidFill>
                  <a:srgbClr val="102236"/>
                </a:solidFill>
                <a:latin typeface="Arial"/>
                <a:ea typeface="Arial"/>
                <a:cs typeface="Arial"/>
              </a:defRPr>
            </a:lvl3pPr>
            <a:lvl4pPr>
              <a:defRPr sz="2175" b="0">
                <a:solidFill>
                  <a:srgbClr val="102236"/>
                </a:solidFill>
                <a:latin typeface="Arial"/>
                <a:ea typeface="Arial"/>
                <a:cs typeface="Arial"/>
              </a:defRPr>
            </a:lvl4pPr>
            <a:lvl5pPr>
              <a:defRPr sz="2175" b="0">
                <a:solidFill>
                  <a:srgbClr val="102236"/>
                </a:solidFill>
                <a:latin typeface="Arial"/>
                <a:ea typeface="Arial"/>
                <a:cs typeface="Arial"/>
              </a:defRPr>
            </a:lvl5pPr>
            <a:lvl6pPr>
              <a:defRPr sz="2175" b="0">
                <a:solidFill>
                  <a:srgbClr val="102236"/>
                </a:solidFill>
                <a:latin typeface="Arial"/>
                <a:ea typeface="Arial"/>
                <a:cs typeface="Arial"/>
              </a:defRPr>
            </a:lvl6pPr>
            <a:lvl7pPr>
              <a:defRPr sz="2175" b="0">
                <a:solidFill>
                  <a:srgbClr val="102236"/>
                </a:solidFill>
                <a:latin typeface="Arial"/>
                <a:ea typeface="Arial"/>
                <a:cs typeface="Arial"/>
              </a:defRPr>
            </a:lvl7pPr>
            <a:lvl8pPr>
              <a:defRPr sz="2175" b="0">
                <a:solidFill>
                  <a:srgbClr val="102236"/>
                </a:solidFill>
                <a:latin typeface="Arial"/>
                <a:ea typeface="Arial"/>
                <a:cs typeface="Arial"/>
              </a:defRPr>
            </a:lvl8pPr>
            <a:lvl9pPr>
              <a:defRPr sz="2175" b="0">
                <a:solidFill>
                  <a:srgbClr val="102236"/>
                </a:solidFill>
                <a:latin typeface="Arial"/>
                <a:ea typeface="Arial"/>
                <a:cs typeface="Arial"/>
              </a:defRPr>
            </a:lvl9pPr>
          </a:lstStyle>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An operator must connect application state with the incident timeline before choosing a response.</a:t>
            </a:r>
          </a:p>
        </p:txBody>
      </p:sp>
      <p:sp>
        <p:nvSpPr>
          <p:cNvPr id="7" name="">
            <a:extLst xmlns:a="http://schemas.openxmlformats.org/drawingml/2006/main">
              <a:ext uri="{FF2B5EF4-FFF2-40B4-BE49-F238E27FC236}">
                <a16:creationId xmlns:a16="http://schemas.microsoft.com/office/drawing/2014/main" id="{234E9624-34B1-47AF-B25E-E010DB2F4D69}"/>
              </a:ext>
            </a:extLst>
          </p:cNvPr>
          <p:cNvSpPr>
            <a:spLocks xmlns:a="http://schemas.openxmlformats.org/drawingml/2006/main" noGrp="1"/>
          </p:cNvSpPr>
          <p:nvPr/>
        </p:nvSpPr>
        <p:spPr>
          <a:xfrm xmlns:a="http://schemas.openxmlformats.org/drawingml/2006/main">
            <a:off x="7953375" y="2152650"/>
            <a:ext cx="352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007F87"/>
                </a:solidFill>
                <a:latin typeface="Arial"/>
                <a:ea typeface="Arial"/>
                <a:cs typeface="Arial"/>
              </a:defRPr>
            </a:defPPr>
            <a:lvl1pPr>
              <a:defRPr sz="1425" b="1">
                <a:solidFill>
                  <a:srgbClr val="007F87"/>
                </a:solidFill>
                <a:latin typeface="Arial"/>
                <a:ea typeface="Arial"/>
                <a:cs typeface="Arial"/>
              </a:defRPr>
            </a:lvl1pPr>
            <a:lvl2pPr>
              <a:defRPr sz="1425" b="1">
                <a:solidFill>
                  <a:srgbClr val="007F87"/>
                </a:solidFill>
                <a:latin typeface="Arial"/>
                <a:ea typeface="Arial"/>
                <a:cs typeface="Arial"/>
              </a:defRPr>
            </a:lvl2pPr>
            <a:lvl3pPr>
              <a:defRPr sz="1425" b="1">
                <a:solidFill>
                  <a:srgbClr val="007F87"/>
                </a:solidFill>
                <a:latin typeface="Arial"/>
                <a:ea typeface="Arial"/>
                <a:cs typeface="Arial"/>
              </a:defRPr>
            </a:lvl3pPr>
            <a:lvl4pPr>
              <a:defRPr sz="1425" b="1">
                <a:solidFill>
                  <a:srgbClr val="007F87"/>
                </a:solidFill>
                <a:latin typeface="Arial"/>
                <a:ea typeface="Arial"/>
                <a:cs typeface="Arial"/>
              </a:defRPr>
            </a:lvl4pPr>
            <a:lvl5pPr>
              <a:defRPr sz="1425" b="1">
                <a:solidFill>
                  <a:srgbClr val="007F87"/>
                </a:solidFill>
                <a:latin typeface="Arial"/>
                <a:ea typeface="Arial"/>
                <a:cs typeface="Arial"/>
              </a:defRPr>
            </a:lvl5pPr>
            <a:lvl6pPr>
              <a:defRPr sz="1425" b="1">
                <a:solidFill>
                  <a:srgbClr val="007F87"/>
                </a:solidFill>
                <a:latin typeface="Arial"/>
                <a:ea typeface="Arial"/>
                <a:cs typeface="Arial"/>
              </a:defRPr>
            </a:lvl6pPr>
            <a:lvl7pPr>
              <a:defRPr sz="1425" b="1">
                <a:solidFill>
                  <a:srgbClr val="007F87"/>
                </a:solidFill>
                <a:latin typeface="Arial"/>
                <a:ea typeface="Arial"/>
                <a:cs typeface="Arial"/>
              </a:defRPr>
            </a:lvl7pPr>
            <a:lvl8pPr>
              <a:defRPr sz="1425" b="1">
                <a:solidFill>
                  <a:srgbClr val="007F87"/>
                </a:solidFill>
                <a:latin typeface="Arial"/>
                <a:ea typeface="Arial"/>
                <a:cs typeface="Arial"/>
              </a:defRPr>
            </a:lvl8pPr>
            <a:lvl9pPr>
              <a:defRPr sz="1425" b="1">
                <a:solidFill>
                  <a:srgbClr val="007F87"/>
                </a:solidFill>
                <a:latin typeface="Arial"/>
                <a:ea typeface="Arial"/>
                <a:cs typeface="Arial"/>
              </a:defRPr>
            </a:lvl9pPr>
          </a:lstStyle>
          <a:p xmlns:a="http://schemas.openxmlformats.org/drawingml/2006/main">
            <a:pPr>
              <a:defRPr sz="1425" b="1">
                <a:solidFill>
                  <a:srgbClr val="007F87"/>
                </a:solidFill>
                <a:latin typeface="Arial"/>
                <a:ea typeface="Arial"/>
                <a:cs typeface="Arial"/>
              </a:defRPr>
            </a:pPr>
            <a:r>
              <a:rPr sz="1425" b="1">
                <a:solidFill>
                  <a:srgbClr val="007F87"/>
                </a:solidFill>
                <a:latin typeface="Arial"/>
                <a:ea typeface="Arial"/>
                <a:cs typeface="Arial"/>
              </a:rPr>
              <a:t>INTENDED USERS</a:t>
            </a:r>
          </a:p>
        </p:txBody>
      </p:sp>
      <p:sp>
        <p:nvSpPr>
          <p:cNvPr id="8" name="">
            <a:extLst xmlns:a="http://schemas.openxmlformats.org/drawingml/2006/main">
              <a:ext uri="{FF2B5EF4-FFF2-40B4-BE49-F238E27FC236}">
                <a16:creationId xmlns:a16="http://schemas.microsoft.com/office/drawing/2014/main" id="{7B4408AD-783D-4471-8A06-CF0EDE9057D9}"/>
              </a:ext>
            </a:extLst>
          </p:cNvPr>
          <p:cNvSpPr>
            <a:spLocks xmlns:a="http://schemas.openxmlformats.org/drawingml/2006/main" noGrp="1"/>
          </p:cNvSpPr>
          <p:nvPr/>
        </p:nvSpPr>
        <p:spPr>
          <a:xfrm xmlns:a="http://schemas.openxmlformats.org/drawingml/2006/main">
            <a:off x="7953375" y="2705100"/>
            <a:ext cx="3476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236"/>
                </a:solidFill>
                <a:latin typeface="Arial"/>
                <a:ea typeface="Arial"/>
                <a:cs typeface="Arial"/>
              </a:defRPr>
            </a:defPPr>
            <a:lvl1pPr>
              <a:defRPr sz="2175" b="0">
                <a:solidFill>
                  <a:srgbClr val="102236"/>
                </a:solidFill>
                <a:latin typeface="Arial"/>
                <a:ea typeface="Arial"/>
                <a:cs typeface="Arial"/>
              </a:defRPr>
            </a:lvl1pPr>
            <a:lvl2pPr>
              <a:defRPr sz="2175" b="0">
                <a:solidFill>
                  <a:srgbClr val="102236"/>
                </a:solidFill>
                <a:latin typeface="Arial"/>
                <a:ea typeface="Arial"/>
                <a:cs typeface="Arial"/>
              </a:defRPr>
            </a:lvl2pPr>
            <a:lvl3pPr>
              <a:defRPr sz="2175" b="0">
                <a:solidFill>
                  <a:srgbClr val="102236"/>
                </a:solidFill>
                <a:latin typeface="Arial"/>
                <a:ea typeface="Arial"/>
                <a:cs typeface="Arial"/>
              </a:defRPr>
            </a:lvl3pPr>
            <a:lvl4pPr>
              <a:defRPr sz="2175" b="0">
                <a:solidFill>
                  <a:srgbClr val="102236"/>
                </a:solidFill>
                <a:latin typeface="Arial"/>
                <a:ea typeface="Arial"/>
                <a:cs typeface="Arial"/>
              </a:defRPr>
            </a:lvl4pPr>
            <a:lvl5pPr>
              <a:defRPr sz="2175" b="0">
                <a:solidFill>
                  <a:srgbClr val="102236"/>
                </a:solidFill>
                <a:latin typeface="Arial"/>
                <a:ea typeface="Arial"/>
                <a:cs typeface="Arial"/>
              </a:defRPr>
            </a:lvl5pPr>
            <a:lvl6pPr>
              <a:defRPr sz="2175" b="0">
                <a:solidFill>
                  <a:srgbClr val="102236"/>
                </a:solidFill>
                <a:latin typeface="Arial"/>
                <a:ea typeface="Arial"/>
                <a:cs typeface="Arial"/>
              </a:defRPr>
            </a:lvl6pPr>
            <a:lvl7pPr>
              <a:defRPr sz="2175" b="0">
                <a:solidFill>
                  <a:srgbClr val="102236"/>
                </a:solidFill>
                <a:latin typeface="Arial"/>
                <a:ea typeface="Arial"/>
                <a:cs typeface="Arial"/>
              </a:defRPr>
            </a:lvl7pPr>
            <a:lvl8pPr>
              <a:defRPr sz="2175" b="0">
                <a:solidFill>
                  <a:srgbClr val="102236"/>
                </a:solidFill>
                <a:latin typeface="Arial"/>
                <a:ea typeface="Arial"/>
                <a:cs typeface="Arial"/>
              </a:defRPr>
            </a:lvl8pPr>
            <a:lvl9pPr>
              <a:defRPr sz="2175" b="0">
                <a:solidFill>
                  <a:srgbClr val="102236"/>
                </a:solidFill>
                <a:latin typeface="Arial"/>
                <a:ea typeface="Arial"/>
                <a:cs typeface="Arial"/>
              </a:defRPr>
            </a:lvl9pPr>
          </a:lstStyle>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Linux operations teams</a:t>
            </a:r>
          </a:p>
          <a:p xmlns:a="http://schemas.openxmlformats.org/drawingml/2006/main">
            <a:r>
              <a:t/>
            </a:r>
          </a:p>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Managed service providers</a:t>
            </a:r>
          </a:p>
        </p:txBody>
      </p:sp>
      <p:sp>
        <p:nvSpPr>
          <p:cNvPr id="9" name="">
            <a:extLst xmlns:a="http://schemas.openxmlformats.org/drawingml/2006/main">
              <a:ext uri="{FF2B5EF4-FFF2-40B4-BE49-F238E27FC236}">
                <a16:creationId xmlns:a16="http://schemas.microsoft.com/office/drawing/2014/main" id="{E2526FC2-093A-4978-A464-D40553759858}"/>
              </a:ext>
            </a:extLst>
          </p:cNvPr>
          <p:cNvSpPr>
            <a:spLocks xmlns:a="http://schemas.openxmlformats.org/drawingml/2006/main" noGrp="1"/>
          </p:cNvSpPr>
          <p:nvPr/>
        </p:nvSpPr>
        <p:spPr>
          <a:xfrm xmlns:a="http://schemas.openxmlformats.org/drawingml/2006/main">
            <a:off x="609600" y="5524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06477"/>
                </a:solidFill>
                <a:latin typeface="Arial"/>
                <a:ea typeface="Arial"/>
                <a:cs typeface="Arial"/>
              </a:defRPr>
            </a:defPPr>
            <a:lvl1pPr>
              <a:defRPr sz="1875" b="0">
                <a:solidFill>
                  <a:srgbClr val="506477"/>
                </a:solidFill>
                <a:latin typeface="Arial"/>
                <a:ea typeface="Arial"/>
                <a:cs typeface="Arial"/>
              </a:defRPr>
            </a:lvl1pPr>
            <a:lvl2pPr>
              <a:defRPr sz="1875" b="0">
                <a:solidFill>
                  <a:srgbClr val="506477"/>
                </a:solidFill>
                <a:latin typeface="Arial"/>
                <a:ea typeface="Arial"/>
                <a:cs typeface="Arial"/>
              </a:defRPr>
            </a:lvl2pPr>
            <a:lvl3pPr>
              <a:defRPr sz="1875" b="0">
                <a:solidFill>
                  <a:srgbClr val="506477"/>
                </a:solidFill>
                <a:latin typeface="Arial"/>
                <a:ea typeface="Arial"/>
                <a:cs typeface="Arial"/>
              </a:defRPr>
            </a:lvl3pPr>
            <a:lvl4pPr>
              <a:defRPr sz="1875" b="0">
                <a:solidFill>
                  <a:srgbClr val="506477"/>
                </a:solidFill>
                <a:latin typeface="Arial"/>
                <a:ea typeface="Arial"/>
                <a:cs typeface="Arial"/>
              </a:defRPr>
            </a:lvl4pPr>
            <a:lvl5pPr>
              <a:defRPr sz="1875" b="0">
                <a:solidFill>
                  <a:srgbClr val="506477"/>
                </a:solidFill>
                <a:latin typeface="Arial"/>
                <a:ea typeface="Arial"/>
                <a:cs typeface="Arial"/>
              </a:defRPr>
            </a:lvl5pPr>
            <a:lvl6pPr>
              <a:defRPr sz="1875" b="0">
                <a:solidFill>
                  <a:srgbClr val="506477"/>
                </a:solidFill>
                <a:latin typeface="Arial"/>
                <a:ea typeface="Arial"/>
                <a:cs typeface="Arial"/>
              </a:defRPr>
            </a:lvl6pPr>
            <a:lvl7pPr>
              <a:defRPr sz="1875" b="0">
                <a:solidFill>
                  <a:srgbClr val="506477"/>
                </a:solidFill>
                <a:latin typeface="Arial"/>
                <a:ea typeface="Arial"/>
                <a:cs typeface="Arial"/>
              </a:defRPr>
            </a:lvl7pPr>
            <a:lvl8pPr>
              <a:defRPr sz="1875" b="0">
                <a:solidFill>
                  <a:srgbClr val="506477"/>
                </a:solidFill>
                <a:latin typeface="Arial"/>
                <a:ea typeface="Arial"/>
                <a:cs typeface="Arial"/>
              </a:defRPr>
            </a:lvl8pPr>
            <a:lvl9pPr>
              <a:defRPr sz="1875" b="0">
                <a:solidFill>
                  <a:srgbClr val="506477"/>
                </a:solidFill>
                <a:latin typeface="Arial"/>
                <a:ea typeface="Arial"/>
                <a:cs typeface="Arial"/>
              </a:defRPr>
            </a:lvl9pPr>
          </a:lstStyle>
          <a:p xmlns:a="http://schemas.openxmlformats.org/drawingml/2006/main">
            <a:pPr>
              <a:defRPr sz="1875" b="0">
                <a:solidFill>
                  <a:srgbClr val="506477"/>
                </a:solidFill>
                <a:latin typeface="Arial"/>
                <a:ea typeface="Arial"/>
                <a:cs typeface="Arial"/>
              </a:defRPr>
            </a:pPr>
            <a:r>
              <a:rPr sz="1875" b="0">
                <a:solidFill>
                  <a:srgbClr val="506477"/>
                </a:solidFill>
                <a:latin typeface="Arial"/>
                <a:ea typeface="Arial"/>
                <a:cs typeface="Arial"/>
              </a:rPr>
              <a:t>Commercial hypothesis: less manual evidence gathering during incident triage.</a:t>
            </a:r>
          </a:p>
        </p:txBody>
      </p:sp>
    </p:spTree>
    <p:extLst>
      <p:ext uri="{BB962C8B-B14F-4D97-AF65-F5344CB8AC3E}">
        <p14:creationId xmlns:p14="http://schemas.microsoft.com/office/powerpoint/2010/main" val="1120148179"/>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E9A3D8-56B3-4E7A-8D84-CD495E91898D}"/>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WORKING DEMONSTRATION</a:t>
            </a:r>
          </a:p>
        </p:txBody>
      </p:sp>
      <p:sp>
        <p:nvSpPr>
          <p:cNvPr id="2" name="">
            <a:extLst xmlns:a="http://schemas.openxmlformats.org/drawingml/2006/main">
              <a:ext uri="{FF2B5EF4-FFF2-40B4-BE49-F238E27FC236}">
                <a16:creationId xmlns:a16="http://schemas.microsoft.com/office/drawing/2014/main" id="{BCA4BC2C-27B0-4109-9DFA-18555960780F}"/>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The VOICE incident workflow</a:t>
            </a:r>
          </a:p>
        </p:txBody>
      </p:sp>
      <p:sp>
        <p:nvSpPr>
          <p:cNvPr id="3" name="">
            <a:extLst xmlns:a="http://schemas.openxmlformats.org/drawingml/2006/main">
              <a:ext uri="{FF2B5EF4-FFF2-40B4-BE49-F238E27FC236}">
                <a16:creationId xmlns:a16="http://schemas.microsoft.com/office/drawing/2014/main" id="{E7B12B6A-2645-4B95-8DED-0152B387A2C4}"/>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D59B7BB3-2463-40D2-8E1F-B2621822D877}"/>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D833148-2BEB-4E71-AAD5-59C59C0EDBE2}"/>
              </a:ext>
            </a:extLst>
          </p:cNvPr>
          <p:cNvSpPr>
            <a:spLocks xmlns:a="http://schemas.openxmlformats.org/drawingml/2006/main" noGrp="1"/>
          </p:cNvSpPr>
          <p:nvPr/>
        </p:nvSpPr>
        <p:spPr>
          <a:xfrm xmlns:a="http://schemas.openxmlformats.org/drawingml/2006/main">
            <a:off x="609600" y="20764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01  Fault</a:t>
            </a:r>
          </a:p>
        </p:txBody>
      </p:sp>
      <p:sp>
        <p:nvSpPr>
          <p:cNvPr id="6" name="">
            <a:extLst xmlns:a="http://schemas.openxmlformats.org/drawingml/2006/main">
              <a:ext uri="{FF2B5EF4-FFF2-40B4-BE49-F238E27FC236}">
                <a16:creationId xmlns:a16="http://schemas.microsoft.com/office/drawing/2014/main" id="{4E835D2B-ACBC-451E-BB94-66FD5ACE6755}"/>
              </a:ext>
            </a:extLst>
          </p:cNvPr>
          <p:cNvSpPr>
            <a:spLocks xmlns:a="http://schemas.openxmlformats.org/drawingml/2006/main" noGrp="1"/>
          </p:cNvSpPr>
          <p:nvPr/>
        </p:nvSpPr>
        <p:spPr>
          <a:xfrm xmlns:a="http://schemas.openxmlformats.org/drawingml/2006/main">
            <a:off x="3705225" y="2076450"/>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Disable VOICE output and send synthetic telecom records.</a:t>
            </a:r>
          </a:p>
        </p:txBody>
      </p:sp>
      <p:sp>
        <p:nvSpPr>
          <p:cNvPr id="7" name="">
            <a:extLst xmlns:a="http://schemas.openxmlformats.org/drawingml/2006/main">
              <a:ext uri="{FF2B5EF4-FFF2-40B4-BE49-F238E27FC236}">
                <a16:creationId xmlns:a16="http://schemas.microsoft.com/office/drawing/2014/main" id="{FAD8E52B-C136-4A86-A3DC-0D3FD4D9F1EE}"/>
              </a:ext>
            </a:extLst>
          </p:cNvPr>
          <p:cNvSpPr>
            <a:spLocks xmlns:a="http://schemas.openxmlformats.org/drawingml/2006/main" noGrp="1"/>
          </p:cNvSpPr>
          <p:nvPr/>
        </p:nvSpPr>
        <p:spPr>
          <a:xfrm xmlns:a="http://schemas.openxmlformats.org/drawingml/2006/main">
            <a:off x="609600" y="311467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02  Detection</a:t>
            </a:r>
          </a:p>
        </p:txBody>
      </p:sp>
      <p:sp>
        <p:nvSpPr>
          <p:cNvPr id="8" name="">
            <a:extLst xmlns:a="http://schemas.openxmlformats.org/drawingml/2006/main">
              <a:ext uri="{FF2B5EF4-FFF2-40B4-BE49-F238E27FC236}">
                <a16:creationId xmlns:a16="http://schemas.microsoft.com/office/drawing/2014/main" id="{C0840A87-FBB1-4604-BB99-D9B058558A68}"/>
              </a:ext>
            </a:extLst>
          </p:cNvPr>
          <p:cNvSpPr>
            <a:spLocks xmlns:a="http://schemas.openxmlformats.org/drawingml/2006/main" noGrp="1"/>
          </p:cNvSpPr>
          <p:nvPr/>
        </p:nvSpPr>
        <p:spPr>
          <a:xfrm xmlns:a="http://schemas.openxmlformats.org/drawingml/2006/main">
            <a:off x="3705225" y="3114675"/>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Sustained backlog opens an alert. AI examines incident evidence.</a:t>
            </a:r>
          </a:p>
        </p:txBody>
      </p:sp>
      <p:sp>
        <p:nvSpPr>
          <p:cNvPr id="9" name="">
            <a:extLst xmlns:a="http://schemas.openxmlformats.org/drawingml/2006/main">
              <a:ext uri="{FF2B5EF4-FFF2-40B4-BE49-F238E27FC236}">
                <a16:creationId xmlns:a16="http://schemas.microsoft.com/office/drawing/2014/main" id="{E6A37575-09E0-435F-A079-2F858E9C2290}"/>
              </a:ext>
            </a:extLst>
          </p:cNvPr>
          <p:cNvSpPr>
            <a:spLocks xmlns:a="http://schemas.openxmlformats.org/drawingml/2006/main" noGrp="1"/>
          </p:cNvSpPr>
          <p:nvPr/>
        </p:nvSpPr>
        <p:spPr>
          <a:xfrm xmlns:a="http://schemas.openxmlformats.org/drawingml/2006/main">
            <a:off x="609600" y="41529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03  Response</a:t>
            </a:r>
          </a:p>
        </p:txBody>
      </p:sp>
      <p:sp>
        <p:nvSpPr>
          <p:cNvPr id="10" name="">
            <a:extLst xmlns:a="http://schemas.openxmlformats.org/drawingml/2006/main">
              <a:ext uri="{FF2B5EF4-FFF2-40B4-BE49-F238E27FC236}">
                <a16:creationId xmlns:a16="http://schemas.microsoft.com/office/drawing/2014/main" id="{6660D0AE-22AF-4D1E-8085-263DD8DB5CD8}"/>
              </a:ext>
            </a:extLst>
          </p:cNvPr>
          <p:cNvSpPr>
            <a:spLocks xmlns:a="http://schemas.openxmlformats.org/drawingml/2006/main" noGrp="1"/>
          </p:cNvSpPr>
          <p:nvPr/>
        </p:nvSpPr>
        <p:spPr>
          <a:xfrm xmlns:a="http://schemas.openxmlformats.org/drawingml/2006/main">
            <a:off x="3705225" y="4152900"/>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Review hypotheses, acknowledge and link an existing ticket.</a:t>
            </a:r>
          </a:p>
        </p:txBody>
      </p:sp>
      <p:sp>
        <p:nvSpPr>
          <p:cNvPr id="11" name="">
            <a:extLst xmlns:a="http://schemas.openxmlformats.org/drawingml/2006/main">
              <a:ext uri="{FF2B5EF4-FFF2-40B4-BE49-F238E27FC236}">
                <a16:creationId xmlns:a16="http://schemas.microsoft.com/office/drawing/2014/main" id="{288058B7-D393-481E-B48C-7DF394529785}"/>
              </a:ext>
            </a:extLst>
          </p:cNvPr>
          <p:cNvSpPr>
            <a:spLocks xmlns:a="http://schemas.openxmlformats.org/drawingml/2006/main" noGrp="1"/>
          </p:cNvSpPr>
          <p:nvPr/>
        </p:nvSpPr>
        <p:spPr>
          <a:xfrm xmlns:a="http://schemas.openxmlformats.org/drawingml/2006/main">
            <a:off x="609600" y="519112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04  Recovery</a:t>
            </a:r>
          </a:p>
        </p:txBody>
      </p:sp>
      <p:sp>
        <p:nvSpPr>
          <p:cNvPr id="12" name="">
            <a:extLst xmlns:a="http://schemas.openxmlformats.org/drawingml/2006/main">
              <a:ext uri="{FF2B5EF4-FFF2-40B4-BE49-F238E27FC236}">
                <a16:creationId xmlns:a16="http://schemas.microsoft.com/office/drawing/2014/main" id="{5A15579A-1CF0-4FC7-9648-326E49FF0D02}"/>
              </a:ext>
            </a:extLst>
          </p:cNvPr>
          <p:cNvSpPr>
            <a:spLocks xmlns:a="http://schemas.openxmlformats.org/drawingml/2006/main" noGrp="1"/>
          </p:cNvSpPr>
          <p:nvPr/>
        </p:nvSpPr>
        <p:spPr>
          <a:xfrm xmlns:a="http://schemas.openxmlformats.org/drawingml/2006/main">
            <a:off x="3705225" y="5191125"/>
            <a:ext cx="7858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Restore output. Healthy samples close alert and trigger recovery webhook.</a:t>
            </a:r>
          </a:p>
        </p:txBody>
      </p:sp>
    </p:spTree>
    <p:extLst>
      <p:ext uri="{BB962C8B-B14F-4D97-AF65-F5344CB8AC3E}">
        <p14:creationId xmlns:p14="http://schemas.microsoft.com/office/powerpoint/2010/main" val="1093843944"/>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9235C8-C355-4E59-98C7-31BD2155EABA}"/>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A138F8E0-441F-440C-B229-AD35B9A43BAD}"/>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Deployment across two machines</a:t>
            </a:r>
          </a:p>
        </p:txBody>
      </p:sp>
      <p:sp>
        <p:nvSpPr>
          <p:cNvPr id="3" name="">
            <a:extLst xmlns:a="http://schemas.openxmlformats.org/drawingml/2006/main">
              <a:ext uri="{FF2B5EF4-FFF2-40B4-BE49-F238E27FC236}">
                <a16:creationId xmlns:a16="http://schemas.microsoft.com/office/drawing/2014/main" id="{9D42E6CB-5B3A-4B82-ABEE-87C6C617FEC4}"/>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A55A03F2-FF8B-4BE7-9C85-0B004959FD2E}"/>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B1F458F-7279-495A-9BC4-7149CC778923}"/>
              </a:ext>
            </a:extLst>
          </p:cNvPr>
          <p:cNvSpPr>
            <a:spLocks xmlns:a="http://schemas.openxmlformats.org/drawingml/2006/main" noGrp="1"/>
          </p:cNvSpPr>
          <p:nvPr/>
        </p:nvSpPr>
        <p:spPr>
          <a:xfrm xmlns:a="http://schemas.openxmlformats.org/drawingml/2006/main">
            <a:off x="609600" y="20002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Machine A  /  Linux</a:t>
            </a:r>
          </a:p>
        </p:txBody>
      </p:sp>
      <p:sp>
        <p:nvSpPr>
          <p:cNvPr id="6" name="">
            <a:extLst xmlns:a="http://schemas.openxmlformats.org/drawingml/2006/main">
              <a:ext uri="{FF2B5EF4-FFF2-40B4-BE49-F238E27FC236}">
                <a16:creationId xmlns:a16="http://schemas.microsoft.com/office/drawing/2014/main" id="{250578E1-750E-4327-BFE0-519CED0329F4}"/>
              </a:ext>
            </a:extLst>
          </p:cNvPr>
          <p:cNvSpPr>
            <a:spLocks xmlns:a="http://schemas.openxmlformats.org/drawingml/2006/main" noGrp="1"/>
          </p:cNvSpPr>
          <p:nvPr/>
        </p:nvSpPr>
        <p:spPr>
          <a:xfrm xmlns:a="http://schemas.openxmlformats.org/drawingml/2006/main">
            <a:off x="3705225" y="200025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TeleMediation services and SQLite</a:t>
            </a:r>
          </a:p>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Collector with durable telemetry spool</a:t>
            </a:r>
          </a:p>
        </p:txBody>
      </p:sp>
      <p:sp>
        <p:nvSpPr>
          <p:cNvPr id="7" name="">
            <a:extLst xmlns:a="http://schemas.openxmlformats.org/drawingml/2006/main">
              <a:ext uri="{FF2B5EF4-FFF2-40B4-BE49-F238E27FC236}">
                <a16:creationId xmlns:a16="http://schemas.microsoft.com/office/drawing/2014/main" id="{00B5A8CF-1F79-42C5-9B8C-1D809F066174}"/>
              </a:ext>
            </a:extLst>
          </p:cNvPr>
          <p:cNvSpPr>
            <a:spLocks xmlns:a="http://schemas.openxmlformats.org/drawingml/2006/main" noGrp="1"/>
          </p:cNvSpPr>
          <p:nvPr/>
        </p:nvSpPr>
        <p:spPr>
          <a:xfrm xmlns:a="http://schemas.openxmlformats.org/drawingml/2006/main">
            <a:off x="609600" y="312420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Machine B</a:t>
            </a:r>
          </a:p>
        </p:txBody>
      </p:sp>
      <p:sp>
        <p:nvSpPr>
          <p:cNvPr id="8" name="">
            <a:extLst xmlns:a="http://schemas.openxmlformats.org/drawingml/2006/main">
              <a:ext uri="{FF2B5EF4-FFF2-40B4-BE49-F238E27FC236}">
                <a16:creationId xmlns:a16="http://schemas.microsoft.com/office/drawing/2014/main" id="{BE52378F-578E-4002-A556-4D3CD4FA66A4}"/>
              </a:ext>
            </a:extLst>
          </p:cNvPr>
          <p:cNvSpPr>
            <a:spLocks xmlns:a="http://schemas.openxmlformats.org/drawingml/2006/main" noGrp="1"/>
          </p:cNvSpPr>
          <p:nvPr/>
        </p:nvSpPr>
        <p:spPr>
          <a:xfrm xmlns:a="http://schemas.openxmlformats.org/drawingml/2006/main">
            <a:off x="3705225" y="3124200"/>
            <a:ext cx="7858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Windows Docker: OpenOps, PostgreSQL, Zetaris</a:t>
            </a:r>
          </a:p>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Windows native: Meterless Nightshift</a:t>
            </a:r>
          </a:p>
        </p:txBody>
      </p:sp>
      <p:sp>
        <p:nvSpPr>
          <p:cNvPr id="9" name="">
            <a:extLst xmlns:a="http://schemas.openxmlformats.org/drawingml/2006/main">
              <a:ext uri="{FF2B5EF4-FFF2-40B4-BE49-F238E27FC236}">
                <a16:creationId xmlns:a16="http://schemas.microsoft.com/office/drawing/2014/main" id="{96AE9542-1D5A-4F24-810B-9992D4386DDB}"/>
              </a:ext>
            </a:extLst>
          </p:cNvPr>
          <p:cNvSpPr>
            <a:spLocks xmlns:a="http://schemas.openxmlformats.org/drawingml/2006/main" noGrp="1"/>
          </p:cNvSpPr>
          <p:nvPr/>
        </p:nvSpPr>
        <p:spPr>
          <a:xfrm xmlns:a="http://schemas.openxmlformats.org/drawingml/2006/main">
            <a:off x="609600" y="42862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Hosted generation</a:t>
            </a:r>
          </a:p>
        </p:txBody>
      </p:sp>
      <p:sp>
        <p:nvSpPr>
          <p:cNvPr id="10" name="">
            <a:extLst xmlns:a="http://schemas.openxmlformats.org/drawingml/2006/main">
              <a:ext uri="{FF2B5EF4-FFF2-40B4-BE49-F238E27FC236}">
                <a16:creationId xmlns:a16="http://schemas.microsoft.com/office/drawing/2014/main" id="{67C4DB2D-5D5B-42F2-BA89-29E4510B029A}"/>
              </a:ext>
            </a:extLst>
          </p:cNvPr>
          <p:cNvSpPr>
            <a:spLocks xmlns:a="http://schemas.openxmlformats.org/drawingml/2006/main" noGrp="1"/>
          </p:cNvSpPr>
          <p:nvPr/>
        </p:nvSpPr>
        <p:spPr>
          <a:xfrm xmlns:a="http://schemas.openxmlformats.org/drawingml/2006/main">
            <a:off x="3705225" y="428625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NVIDIA model calls through Nightshift</a:t>
            </a:r>
          </a:p>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No local GPU required</a:t>
            </a:r>
          </a:p>
        </p:txBody>
      </p:sp>
      <p:sp>
        <p:nvSpPr>
          <p:cNvPr id="11" name="">
            <a:extLst xmlns:a="http://schemas.openxmlformats.org/drawingml/2006/main">
              <a:ext uri="{FF2B5EF4-FFF2-40B4-BE49-F238E27FC236}">
                <a16:creationId xmlns:a16="http://schemas.microsoft.com/office/drawing/2014/main" id="{B6E50CAA-C2D2-4488-9A7E-D990E7392CB1}"/>
              </a:ext>
            </a:extLst>
          </p:cNvPr>
          <p:cNvSpPr>
            <a:spLocks xmlns:a="http://schemas.openxmlformats.org/drawingml/2006/main" noGrp="1"/>
          </p:cNvSpPr>
          <p:nvPr/>
        </p:nvSpPr>
        <p:spPr>
          <a:xfrm xmlns:a="http://schemas.openxmlformats.org/drawingml/2006/main">
            <a:off x="609600" y="53911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06477"/>
                </a:solidFill>
                <a:latin typeface="Arial"/>
                <a:ea typeface="Arial"/>
                <a:cs typeface="Arial"/>
              </a:defRPr>
            </a:defPPr>
            <a:lvl1pPr>
              <a:defRPr sz="1800" b="0">
                <a:solidFill>
                  <a:srgbClr val="506477"/>
                </a:solidFill>
                <a:latin typeface="Arial"/>
                <a:ea typeface="Arial"/>
                <a:cs typeface="Arial"/>
              </a:defRPr>
            </a:lvl1pPr>
            <a:lvl2pPr>
              <a:defRPr sz="1800" b="0">
                <a:solidFill>
                  <a:srgbClr val="506477"/>
                </a:solidFill>
                <a:latin typeface="Arial"/>
                <a:ea typeface="Arial"/>
                <a:cs typeface="Arial"/>
              </a:defRPr>
            </a:lvl2pPr>
            <a:lvl3pPr>
              <a:defRPr sz="1800" b="0">
                <a:solidFill>
                  <a:srgbClr val="506477"/>
                </a:solidFill>
                <a:latin typeface="Arial"/>
                <a:ea typeface="Arial"/>
                <a:cs typeface="Arial"/>
              </a:defRPr>
            </a:lvl3pPr>
            <a:lvl4pPr>
              <a:defRPr sz="1800" b="0">
                <a:solidFill>
                  <a:srgbClr val="506477"/>
                </a:solidFill>
                <a:latin typeface="Arial"/>
                <a:ea typeface="Arial"/>
                <a:cs typeface="Arial"/>
              </a:defRPr>
            </a:lvl4pPr>
            <a:lvl5pPr>
              <a:defRPr sz="1800" b="0">
                <a:solidFill>
                  <a:srgbClr val="506477"/>
                </a:solidFill>
                <a:latin typeface="Arial"/>
                <a:ea typeface="Arial"/>
                <a:cs typeface="Arial"/>
              </a:defRPr>
            </a:lvl5pPr>
            <a:lvl6pPr>
              <a:defRPr sz="1800" b="0">
                <a:solidFill>
                  <a:srgbClr val="506477"/>
                </a:solidFill>
                <a:latin typeface="Arial"/>
                <a:ea typeface="Arial"/>
                <a:cs typeface="Arial"/>
              </a:defRPr>
            </a:lvl6pPr>
            <a:lvl7pPr>
              <a:defRPr sz="1800" b="0">
                <a:solidFill>
                  <a:srgbClr val="506477"/>
                </a:solidFill>
                <a:latin typeface="Arial"/>
                <a:ea typeface="Arial"/>
                <a:cs typeface="Arial"/>
              </a:defRPr>
            </a:lvl7pPr>
            <a:lvl8pPr>
              <a:defRPr sz="1800" b="0">
                <a:solidFill>
                  <a:srgbClr val="506477"/>
                </a:solidFill>
                <a:latin typeface="Arial"/>
                <a:ea typeface="Arial"/>
                <a:cs typeface="Arial"/>
              </a:defRPr>
            </a:lvl8pPr>
            <a:lvl9pPr>
              <a:defRPr sz="1800" b="0">
                <a:solidFill>
                  <a:srgbClr val="506477"/>
                </a:solidFill>
                <a:latin typeface="Arial"/>
                <a:ea typeface="Arial"/>
                <a:cs typeface="Arial"/>
              </a:defRPr>
            </a:lvl9pPr>
          </a:lstStyle>
          <a:p xmlns:a="http://schemas.openxmlformats.org/drawingml/2006/main">
            <a:pPr>
              <a:defRPr sz="1800" b="0">
                <a:solidFill>
                  <a:srgbClr val="506477"/>
                </a:solidFill>
                <a:latin typeface="Arial"/>
                <a:ea typeface="Arial"/>
                <a:cs typeface="Arial"/>
              </a:defRPr>
            </a:pPr>
            <a:r>
              <a:rPr sz="1800" b="0">
                <a:solidFill>
                  <a:srgbClr val="506477"/>
                </a:solidFill>
                <a:latin typeface="Arial"/>
                <a:ea typeface="Arial"/>
                <a:cs typeface="Arial"/>
              </a:rPr>
              <a:t>Data path: collector HTTP ingestion, storage, Zetaris queries, incident analysis, notification outbox.</a:t>
            </a:r>
          </a:p>
        </p:txBody>
      </p:sp>
    </p:spTree>
    <p:extLst>
      <p:ext uri="{BB962C8B-B14F-4D97-AF65-F5344CB8AC3E}">
        <p14:creationId xmlns:p14="http://schemas.microsoft.com/office/powerpoint/2010/main" val="727624528"/>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6FC436-806D-4D5E-BB43-BF4F858983DE}"/>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ACTUAL INTEGRATION</a:t>
            </a:r>
          </a:p>
        </p:txBody>
      </p:sp>
      <p:sp>
        <p:nvSpPr>
          <p:cNvPr id="2" name="">
            <a:extLst xmlns:a="http://schemas.openxmlformats.org/drawingml/2006/main">
              <a:ext uri="{FF2B5EF4-FFF2-40B4-BE49-F238E27FC236}">
                <a16:creationId xmlns:a16="http://schemas.microsoft.com/office/drawing/2014/main" id="{319BF91D-00F0-4B09-A0CE-50638700CFDF}"/>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Sponsor technology in the execution path</a:t>
            </a:r>
          </a:p>
        </p:txBody>
      </p:sp>
      <p:sp>
        <p:nvSpPr>
          <p:cNvPr id="3" name="">
            <a:extLst xmlns:a="http://schemas.openxmlformats.org/drawingml/2006/main">
              <a:ext uri="{FF2B5EF4-FFF2-40B4-BE49-F238E27FC236}">
                <a16:creationId xmlns:a16="http://schemas.microsoft.com/office/drawing/2014/main" id="{35204C7C-FD64-47BC-92C0-B55C6FCFA48C}"/>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15FA415C-8AC8-4628-8C77-44EFBE05CC7B}"/>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46D70A7-7BFB-4678-91C4-2C1F006BDA18}"/>
              </a:ext>
            </a:extLst>
          </p:cNvPr>
          <p:cNvSpPr>
            <a:spLocks xmlns:a="http://schemas.openxmlformats.org/drawingml/2006/main" noGrp="1"/>
          </p:cNvSpPr>
          <p:nvPr/>
        </p:nvSpPr>
        <p:spPr>
          <a:xfrm xmlns:a="http://schemas.openxmlformats.org/drawingml/2006/main">
            <a:off x="609600" y="20859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Zetaris</a:t>
            </a:r>
          </a:p>
        </p:txBody>
      </p:sp>
      <p:sp>
        <p:nvSpPr>
          <p:cNvPr id="6" name="">
            <a:extLst xmlns:a="http://schemas.openxmlformats.org/drawingml/2006/main">
              <a:ext uri="{FF2B5EF4-FFF2-40B4-BE49-F238E27FC236}">
                <a16:creationId xmlns:a16="http://schemas.microsoft.com/office/drawing/2014/main" id="{22B6D6C4-1D07-4870-B8E2-7460EE42F5CE}"/>
              </a:ext>
            </a:extLst>
          </p:cNvPr>
          <p:cNvSpPr>
            <a:spLocks xmlns:a="http://schemas.openxmlformats.org/drawingml/2006/main" noGrp="1"/>
          </p:cNvSpPr>
          <p:nvPr/>
        </p:nvSpPr>
        <p:spPr>
          <a:xfrm xmlns:a="http://schemas.openxmlformats.org/drawingml/2006/main">
            <a:off x="3705225" y="2085975"/>
            <a:ext cx="785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Registered SQL evidence view for monitors and investigation tools.</a:t>
            </a:r>
          </a:p>
        </p:txBody>
      </p:sp>
      <p:sp>
        <p:nvSpPr>
          <p:cNvPr id="7" name="">
            <a:extLst xmlns:a="http://schemas.openxmlformats.org/drawingml/2006/main">
              <a:ext uri="{FF2B5EF4-FFF2-40B4-BE49-F238E27FC236}">
                <a16:creationId xmlns:a16="http://schemas.microsoft.com/office/drawing/2014/main" id="{3FF9FCD9-04EE-4712-BEF5-43FECB564845}"/>
              </a:ext>
            </a:extLst>
          </p:cNvPr>
          <p:cNvSpPr>
            <a:spLocks xmlns:a="http://schemas.openxmlformats.org/drawingml/2006/main" noGrp="1"/>
          </p:cNvSpPr>
          <p:nvPr/>
        </p:nvSpPr>
        <p:spPr>
          <a:xfrm xmlns:a="http://schemas.openxmlformats.org/drawingml/2006/main">
            <a:off x="609600" y="325755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Meterless</a:t>
            </a:r>
          </a:p>
        </p:txBody>
      </p:sp>
      <p:sp>
        <p:nvSpPr>
          <p:cNvPr id="8" name="">
            <a:extLst xmlns:a="http://schemas.openxmlformats.org/drawingml/2006/main">
              <a:ext uri="{FF2B5EF4-FFF2-40B4-BE49-F238E27FC236}">
                <a16:creationId xmlns:a16="http://schemas.microsoft.com/office/drawing/2014/main" id="{83F41942-497C-4903-AEBE-800A6D68CC0F}"/>
              </a:ext>
            </a:extLst>
          </p:cNvPr>
          <p:cNvSpPr>
            <a:spLocks xmlns:a="http://schemas.openxmlformats.org/drawingml/2006/main" noGrp="1"/>
          </p:cNvSpPr>
          <p:nvPr/>
        </p:nvSpPr>
        <p:spPr>
          <a:xfrm xmlns:a="http://schemas.openxmlformats.org/drawingml/2006/main">
            <a:off x="3705225" y="3257550"/>
            <a:ext cx="7858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Persistent World Model adaptation and Nightshift generation runtime.</a:t>
            </a:r>
          </a:p>
        </p:txBody>
      </p:sp>
      <p:sp>
        <p:nvSpPr>
          <p:cNvPr id="9" name="">
            <a:extLst xmlns:a="http://schemas.openxmlformats.org/drawingml/2006/main">
              <a:ext uri="{FF2B5EF4-FFF2-40B4-BE49-F238E27FC236}">
                <a16:creationId xmlns:a16="http://schemas.microsoft.com/office/drawing/2014/main" id="{A7015CDB-A137-4280-9D90-B4D1828222B4}"/>
              </a:ext>
            </a:extLst>
          </p:cNvPr>
          <p:cNvSpPr>
            <a:spLocks xmlns:a="http://schemas.openxmlformats.org/drawingml/2006/main" noGrp="1"/>
          </p:cNvSpPr>
          <p:nvPr/>
        </p:nvSpPr>
        <p:spPr>
          <a:xfrm xmlns:a="http://schemas.openxmlformats.org/drawingml/2006/main">
            <a:off x="609600" y="45148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NVIDIA</a:t>
            </a:r>
          </a:p>
        </p:txBody>
      </p:sp>
      <p:sp>
        <p:nvSpPr>
          <p:cNvPr id="10" name="">
            <a:extLst xmlns:a="http://schemas.openxmlformats.org/drawingml/2006/main">
              <a:ext uri="{FF2B5EF4-FFF2-40B4-BE49-F238E27FC236}">
                <a16:creationId xmlns:a16="http://schemas.microsoft.com/office/drawing/2014/main" id="{81B9F6FD-9F63-480A-AD7D-70314DE1E9BA}"/>
              </a:ext>
            </a:extLst>
          </p:cNvPr>
          <p:cNvSpPr>
            <a:spLocks xmlns:a="http://schemas.openxmlformats.org/drawingml/2006/main" noGrp="1"/>
          </p:cNvSpPr>
          <p:nvPr/>
        </p:nvSpPr>
        <p:spPr>
          <a:xfrm xmlns:a="http://schemas.openxmlformats.org/drawingml/2006/main">
            <a:off x="3705225" y="451485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Hosted Nemotron generation for planning, investigation and critique.</a:t>
            </a:r>
          </a:p>
        </p:txBody>
      </p:sp>
      <p:sp>
        <p:nvSpPr>
          <p:cNvPr id="11" name="">
            <a:extLst xmlns:a="http://schemas.openxmlformats.org/drawingml/2006/main">
              <a:ext uri="{FF2B5EF4-FFF2-40B4-BE49-F238E27FC236}">
                <a16:creationId xmlns:a16="http://schemas.microsoft.com/office/drawing/2014/main" id="{5AE8C50C-0753-4071-8331-49C7F37669EC}"/>
              </a:ext>
            </a:extLst>
          </p:cNvPr>
          <p:cNvSpPr>
            <a:spLocks xmlns:a="http://schemas.openxmlformats.org/drawingml/2006/main" noGrp="1"/>
          </p:cNvSpPr>
          <p:nvPr/>
        </p:nvSpPr>
        <p:spPr>
          <a:xfrm xmlns:a="http://schemas.openxmlformats.org/drawingml/2006/main">
            <a:off x="609600" y="5619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06477"/>
                </a:solidFill>
                <a:latin typeface="Arial"/>
                <a:ea typeface="Arial"/>
                <a:cs typeface="Arial"/>
              </a:defRPr>
            </a:defPPr>
            <a:lvl1pPr>
              <a:defRPr sz="1725" b="0">
                <a:solidFill>
                  <a:srgbClr val="506477"/>
                </a:solidFill>
                <a:latin typeface="Arial"/>
                <a:ea typeface="Arial"/>
                <a:cs typeface="Arial"/>
              </a:defRPr>
            </a:lvl1pPr>
            <a:lvl2pPr>
              <a:defRPr sz="1725" b="0">
                <a:solidFill>
                  <a:srgbClr val="506477"/>
                </a:solidFill>
                <a:latin typeface="Arial"/>
                <a:ea typeface="Arial"/>
                <a:cs typeface="Arial"/>
              </a:defRPr>
            </a:lvl2pPr>
            <a:lvl3pPr>
              <a:defRPr sz="1725" b="0">
                <a:solidFill>
                  <a:srgbClr val="506477"/>
                </a:solidFill>
                <a:latin typeface="Arial"/>
                <a:ea typeface="Arial"/>
                <a:cs typeface="Arial"/>
              </a:defRPr>
            </a:lvl3pPr>
            <a:lvl4pPr>
              <a:defRPr sz="1725" b="0">
                <a:solidFill>
                  <a:srgbClr val="506477"/>
                </a:solidFill>
                <a:latin typeface="Arial"/>
                <a:ea typeface="Arial"/>
                <a:cs typeface="Arial"/>
              </a:defRPr>
            </a:lvl4pPr>
            <a:lvl5pPr>
              <a:defRPr sz="1725" b="0">
                <a:solidFill>
                  <a:srgbClr val="506477"/>
                </a:solidFill>
                <a:latin typeface="Arial"/>
                <a:ea typeface="Arial"/>
                <a:cs typeface="Arial"/>
              </a:defRPr>
            </a:lvl5pPr>
            <a:lvl6pPr>
              <a:defRPr sz="1725" b="0">
                <a:solidFill>
                  <a:srgbClr val="506477"/>
                </a:solidFill>
                <a:latin typeface="Arial"/>
                <a:ea typeface="Arial"/>
                <a:cs typeface="Arial"/>
              </a:defRPr>
            </a:lvl6pPr>
            <a:lvl7pPr>
              <a:defRPr sz="1725" b="0">
                <a:solidFill>
                  <a:srgbClr val="506477"/>
                </a:solidFill>
                <a:latin typeface="Arial"/>
                <a:ea typeface="Arial"/>
                <a:cs typeface="Arial"/>
              </a:defRPr>
            </a:lvl7pPr>
            <a:lvl8pPr>
              <a:defRPr sz="1725" b="0">
                <a:solidFill>
                  <a:srgbClr val="506477"/>
                </a:solidFill>
                <a:latin typeface="Arial"/>
                <a:ea typeface="Arial"/>
                <a:cs typeface="Arial"/>
              </a:defRPr>
            </a:lvl8pPr>
            <a:lvl9pPr>
              <a:defRPr sz="1725" b="0">
                <a:solidFill>
                  <a:srgbClr val="506477"/>
                </a:solidFill>
                <a:latin typeface="Arial"/>
                <a:ea typeface="Arial"/>
                <a:cs typeface="Arial"/>
              </a:defRPr>
            </a:lvl9pPr>
          </a:lstStyle>
          <a:p xmlns:a="http://schemas.openxmlformats.org/drawingml/2006/main">
            <a:pPr>
              <a:defRPr sz="1725" b="0">
                <a:solidFill>
                  <a:srgbClr val="506477"/>
                </a:solidFill>
                <a:latin typeface="Arial"/>
                <a:ea typeface="Arial"/>
                <a:cs typeface="Arial"/>
              </a:defRPr>
            </a:pPr>
            <a:r>
              <a:rPr sz="1725" b="0">
                <a:solidFill>
                  <a:srgbClr val="506477"/>
                </a:solidFill>
                <a:latin typeface="Arial"/>
                <a:ea typeface="Arial"/>
                <a:cs typeface="Arial"/>
              </a:rPr>
              <a:t>Current scope: one registered telemetry view. Portal charts read stored PostgreSQL telemetry directly.</a:t>
            </a:r>
          </a:p>
        </p:txBody>
      </p:sp>
    </p:spTree>
    <p:extLst>
      <p:ext uri="{BB962C8B-B14F-4D97-AF65-F5344CB8AC3E}">
        <p14:creationId xmlns:p14="http://schemas.microsoft.com/office/powerpoint/2010/main" val="1134490451"/>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683E780-EF9C-4F88-B071-509C7F1E4958}"/>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AGENT BEHAVIOR</a:t>
            </a:r>
          </a:p>
        </p:txBody>
      </p:sp>
      <p:sp>
        <p:nvSpPr>
          <p:cNvPr id="2" name="">
            <a:extLst xmlns:a="http://schemas.openxmlformats.org/drawingml/2006/main">
              <a:ext uri="{FF2B5EF4-FFF2-40B4-BE49-F238E27FC236}">
                <a16:creationId xmlns:a16="http://schemas.microsoft.com/office/drawing/2014/main" id="{F799F9BB-7888-48BD-9DAD-7162DF1037EC}"/>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A bounded investigation with inspectable evidence</a:t>
            </a:r>
          </a:p>
        </p:txBody>
      </p:sp>
      <p:sp>
        <p:nvSpPr>
          <p:cNvPr id="3" name="">
            <a:extLst xmlns:a="http://schemas.openxmlformats.org/drawingml/2006/main">
              <a:ext uri="{FF2B5EF4-FFF2-40B4-BE49-F238E27FC236}">
                <a16:creationId xmlns:a16="http://schemas.microsoft.com/office/drawing/2014/main" id="{5EDC4EC3-ADCB-4265-BB9F-D3E9FB65F2B5}"/>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53E80FD4-5707-4D5F-A126-342C728CF9C8}"/>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5A477CB-681C-4E99-8FBB-06ED4FC5CF0E}"/>
              </a:ext>
            </a:extLst>
          </p:cNvPr>
          <p:cNvSpPr>
            <a:spLocks xmlns:a="http://schemas.openxmlformats.org/drawingml/2006/main" noGrp="1"/>
          </p:cNvSpPr>
          <p:nvPr/>
        </p:nvSpPr>
        <p:spPr>
          <a:xfrm xmlns:a="http://schemas.openxmlformats.org/drawingml/2006/main">
            <a:off x="609600" y="2076450"/>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Planner</a:t>
            </a:r>
          </a:p>
        </p:txBody>
      </p:sp>
      <p:sp>
        <p:nvSpPr>
          <p:cNvPr id="6" name="">
            <a:extLst xmlns:a="http://schemas.openxmlformats.org/drawingml/2006/main">
              <a:ext uri="{FF2B5EF4-FFF2-40B4-BE49-F238E27FC236}">
                <a16:creationId xmlns:a16="http://schemas.microsoft.com/office/drawing/2014/main" id="{49430983-CB8C-4A4C-BD50-EE6E5BD049F2}"/>
              </a:ext>
            </a:extLst>
          </p:cNvPr>
          <p:cNvSpPr>
            <a:spLocks xmlns:a="http://schemas.openxmlformats.org/drawingml/2006/main" noGrp="1"/>
          </p:cNvSpPr>
          <p:nvPr/>
        </p:nvSpPr>
        <p:spPr>
          <a:xfrm xmlns:a="http://schemas.openxmlformats.org/drawingml/2006/main">
            <a:off x="3228975" y="2076450"/>
            <a:ext cx="8334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Selects approved evidence tools for the incident context.</a:t>
            </a:r>
          </a:p>
        </p:txBody>
      </p:sp>
      <p:sp>
        <p:nvSpPr>
          <p:cNvPr id="7" name="">
            <a:extLst xmlns:a="http://schemas.openxmlformats.org/drawingml/2006/main">
              <a:ext uri="{FF2B5EF4-FFF2-40B4-BE49-F238E27FC236}">
                <a16:creationId xmlns:a16="http://schemas.microsoft.com/office/drawing/2014/main" id="{43A71DD1-A7C3-4192-98A2-FC51304D0719}"/>
              </a:ext>
            </a:extLst>
          </p:cNvPr>
          <p:cNvSpPr>
            <a:spLocks xmlns:a="http://schemas.openxmlformats.org/drawingml/2006/main" noGrp="1"/>
          </p:cNvSpPr>
          <p:nvPr/>
        </p:nvSpPr>
        <p:spPr>
          <a:xfrm xmlns:a="http://schemas.openxmlformats.org/drawingml/2006/main">
            <a:off x="609600" y="300990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Investigator</a:t>
            </a:r>
          </a:p>
        </p:txBody>
      </p:sp>
      <p:sp>
        <p:nvSpPr>
          <p:cNvPr id="8" name="">
            <a:extLst xmlns:a="http://schemas.openxmlformats.org/drawingml/2006/main">
              <a:ext uri="{FF2B5EF4-FFF2-40B4-BE49-F238E27FC236}">
                <a16:creationId xmlns:a16="http://schemas.microsoft.com/office/drawing/2014/main" id="{046B1BB4-D1E8-41CC-B275-E9367503788A}"/>
              </a:ext>
            </a:extLst>
          </p:cNvPr>
          <p:cNvSpPr>
            <a:spLocks xmlns:a="http://schemas.openxmlformats.org/drawingml/2006/main" noGrp="1"/>
          </p:cNvSpPr>
          <p:nvPr/>
        </p:nvSpPr>
        <p:spPr>
          <a:xfrm xmlns:a="http://schemas.openxmlformats.org/drawingml/2006/main">
            <a:off x="3228975" y="3009900"/>
            <a:ext cx="8334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Compares observations and cites support for each hypothesis.</a:t>
            </a:r>
          </a:p>
        </p:txBody>
      </p:sp>
      <p:sp>
        <p:nvSpPr>
          <p:cNvPr id="9" name="">
            <a:extLst xmlns:a="http://schemas.openxmlformats.org/drawingml/2006/main">
              <a:ext uri="{FF2B5EF4-FFF2-40B4-BE49-F238E27FC236}">
                <a16:creationId xmlns:a16="http://schemas.microsoft.com/office/drawing/2014/main" id="{6283B72F-98F8-4F92-B1E7-F9ED44759C0A}"/>
              </a:ext>
            </a:extLst>
          </p:cNvPr>
          <p:cNvSpPr>
            <a:spLocks xmlns:a="http://schemas.openxmlformats.org/drawingml/2006/main" noGrp="1"/>
          </p:cNvSpPr>
          <p:nvPr/>
        </p:nvSpPr>
        <p:spPr>
          <a:xfrm xmlns:a="http://schemas.openxmlformats.org/drawingml/2006/main">
            <a:off x="609600" y="39909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Evaluator</a:t>
            </a:r>
          </a:p>
        </p:txBody>
      </p:sp>
      <p:sp>
        <p:nvSpPr>
          <p:cNvPr id="10" name="">
            <a:extLst xmlns:a="http://schemas.openxmlformats.org/drawingml/2006/main">
              <a:ext uri="{FF2B5EF4-FFF2-40B4-BE49-F238E27FC236}">
                <a16:creationId xmlns:a16="http://schemas.microsoft.com/office/drawing/2014/main" id="{9BC29353-0B48-4575-9759-6F1904EA6ECB}"/>
              </a:ext>
            </a:extLst>
          </p:cNvPr>
          <p:cNvSpPr>
            <a:spLocks xmlns:a="http://schemas.openxmlformats.org/drawingml/2006/main" noGrp="1"/>
          </p:cNvSpPr>
          <p:nvPr/>
        </p:nvSpPr>
        <p:spPr>
          <a:xfrm xmlns:a="http://schemas.openxmlformats.org/drawingml/2006/main">
            <a:off x="3228975" y="3990975"/>
            <a:ext cx="8334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Reviews support and can request one revision or flag uncertainty.</a:t>
            </a:r>
          </a:p>
        </p:txBody>
      </p:sp>
      <p:sp>
        <p:nvSpPr>
          <p:cNvPr id="11" name="">
            <a:extLst xmlns:a="http://schemas.openxmlformats.org/drawingml/2006/main">
              <a:ext uri="{FF2B5EF4-FFF2-40B4-BE49-F238E27FC236}">
                <a16:creationId xmlns:a16="http://schemas.microsoft.com/office/drawing/2014/main" id="{436FE282-F45B-43EC-9DD2-535E027C2C7E}"/>
              </a:ext>
            </a:extLst>
          </p:cNvPr>
          <p:cNvSpPr>
            <a:spLocks xmlns:a="http://schemas.openxmlformats.org/drawingml/2006/main" noGrp="1"/>
          </p:cNvSpPr>
          <p:nvPr/>
        </p:nvSpPr>
        <p:spPr>
          <a:xfrm xmlns:a="http://schemas.openxmlformats.org/drawingml/2006/main">
            <a:off x="609600" y="52197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7F87"/>
                </a:solidFill>
                <a:latin typeface="Arial"/>
                <a:ea typeface="Arial"/>
                <a:cs typeface="Arial"/>
              </a:defRPr>
            </a:defPPr>
            <a:lvl1pPr>
              <a:defRPr sz="2100" b="1">
                <a:solidFill>
                  <a:srgbClr val="007F87"/>
                </a:solidFill>
                <a:latin typeface="Arial"/>
                <a:ea typeface="Arial"/>
                <a:cs typeface="Arial"/>
              </a:defRPr>
            </a:lvl1pPr>
            <a:lvl2pPr>
              <a:defRPr sz="2100" b="1">
                <a:solidFill>
                  <a:srgbClr val="007F87"/>
                </a:solidFill>
                <a:latin typeface="Arial"/>
                <a:ea typeface="Arial"/>
                <a:cs typeface="Arial"/>
              </a:defRPr>
            </a:lvl2pPr>
            <a:lvl3pPr>
              <a:defRPr sz="2100" b="1">
                <a:solidFill>
                  <a:srgbClr val="007F87"/>
                </a:solidFill>
                <a:latin typeface="Arial"/>
                <a:ea typeface="Arial"/>
                <a:cs typeface="Arial"/>
              </a:defRPr>
            </a:lvl3pPr>
            <a:lvl4pPr>
              <a:defRPr sz="2100" b="1">
                <a:solidFill>
                  <a:srgbClr val="007F87"/>
                </a:solidFill>
                <a:latin typeface="Arial"/>
                <a:ea typeface="Arial"/>
                <a:cs typeface="Arial"/>
              </a:defRPr>
            </a:lvl4pPr>
            <a:lvl5pPr>
              <a:defRPr sz="2100" b="1">
                <a:solidFill>
                  <a:srgbClr val="007F87"/>
                </a:solidFill>
                <a:latin typeface="Arial"/>
                <a:ea typeface="Arial"/>
                <a:cs typeface="Arial"/>
              </a:defRPr>
            </a:lvl5pPr>
            <a:lvl6pPr>
              <a:defRPr sz="2100" b="1">
                <a:solidFill>
                  <a:srgbClr val="007F87"/>
                </a:solidFill>
                <a:latin typeface="Arial"/>
                <a:ea typeface="Arial"/>
                <a:cs typeface="Arial"/>
              </a:defRPr>
            </a:lvl6pPr>
            <a:lvl7pPr>
              <a:defRPr sz="2100" b="1">
                <a:solidFill>
                  <a:srgbClr val="007F87"/>
                </a:solidFill>
                <a:latin typeface="Arial"/>
                <a:ea typeface="Arial"/>
                <a:cs typeface="Arial"/>
              </a:defRPr>
            </a:lvl7pPr>
            <a:lvl8pPr>
              <a:defRPr sz="2100" b="1">
                <a:solidFill>
                  <a:srgbClr val="007F87"/>
                </a:solidFill>
                <a:latin typeface="Arial"/>
                <a:ea typeface="Arial"/>
                <a:cs typeface="Arial"/>
              </a:defRPr>
            </a:lvl8pPr>
            <a:lvl9pPr>
              <a:defRPr sz="2100" b="1">
                <a:solidFill>
                  <a:srgbClr val="007F87"/>
                </a:solidFill>
                <a:latin typeface="Arial"/>
                <a:ea typeface="Arial"/>
                <a:cs typeface="Arial"/>
              </a:defRPr>
            </a:lvl9pPr>
          </a:lstStyle>
          <a:p xmlns:a="http://schemas.openxmlformats.org/drawingml/2006/main">
            <a:pPr>
              <a:defRPr sz="2100" b="1">
                <a:solidFill>
                  <a:srgbClr val="007F87"/>
                </a:solidFill>
                <a:latin typeface="Arial"/>
                <a:ea typeface="Arial"/>
                <a:cs typeface="Arial"/>
              </a:defRPr>
            </a:pPr>
            <a:r>
              <a:rPr sz="2100" b="1">
                <a:solidFill>
                  <a:srgbClr val="007F87"/>
                </a:solidFill>
                <a:latin typeface="Arial"/>
                <a:ea typeface="Arial"/>
                <a:cs typeface="Arial"/>
              </a:rPr>
              <a:t>200 seconds per attempt     5 model calls maximum     3 evidence queries maximum</a:t>
            </a:r>
          </a:p>
        </p:txBody>
      </p:sp>
      <p:sp>
        <p:nvSpPr>
          <p:cNvPr id="12" name="">
            <a:extLst xmlns:a="http://schemas.openxmlformats.org/drawingml/2006/main">
              <a:ext uri="{FF2B5EF4-FFF2-40B4-BE49-F238E27FC236}">
                <a16:creationId xmlns:a16="http://schemas.microsoft.com/office/drawing/2014/main" id="{B99CAB50-83D7-49A7-8206-D37E0B948EA6}"/>
              </a:ext>
            </a:extLst>
          </p:cNvPr>
          <p:cNvSpPr>
            <a:spLocks xmlns:a="http://schemas.openxmlformats.org/drawingml/2006/main" noGrp="1"/>
          </p:cNvSpPr>
          <p:nvPr/>
        </p:nvSpPr>
        <p:spPr>
          <a:xfrm xmlns:a="http://schemas.openxmlformats.org/drawingml/2006/main">
            <a:off x="609600" y="5905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06477"/>
                </a:solidFill>
                <a:latin typeface="Arial"/>
                <a:ea typeface="Arial"/>
                <a:cs typeface="Arial"/>
              </a:defRPr>
            </a:defPPr>
            <a:lvl1pPr>
              <a:defRPr sz="1725" b="0">
                <a:solidFill>
                  <a:srgbClr val="506477"/>
                </a:solidFill>
                <a:latin typeface="Arial"/>
                <a:ea typeface="Arial"/>
                <a:cs typeface="Arial"/>
              </a:defRPr>
            </a:lvl1pPr>
            <a:lvl2pPr>
              <a:defRPr sz="1725" b="0">
                <a:solidFill>
                  <a:srgbClr val="506477"/>
                </a:solidFill>
                <a:latin typeface="Arial"/>
                <a:ea typeface="Arial"/>
                <a:cs typeface="Arial"/>
              </a:defRPr>
            </a:lvl2pPr>
            <a:lvl3pPr>
              <a:defRPr sz="1725" b="0">
                <a:solidFill>
                  <a:srgbClr val="506477"/>
                </a:solidFill>
                <a:latin typeface="Arial"/>
                <a:ea typeface="Arial"/>
                <a:cs typeface="Arial"/>
              </a:defRPr>
            </a:lvl3pPr>
            <a:lvl4pPr>
              <a:defRPr sz="1725" b="0">
                <a:solidFill>
                  <a:srgbClr val="506477"/>
                </a:solidFill>
                <a:latin typeface="Arial"/>
                <a:ea typeface="Arial"/>
                <a:cs typeface="Arial"/>
              </a:defRPr>
            </a:lvl4pPr>
            <a:lvl5pPr>
              <a:defRPr sz="1725" b="0">
                <a:solidFill>
                  <a:srgbClr val="506477"/>
                </a:solidFill>
                <a:latin typeface="Arial"/>
                <a:ea typeface="Arial"/>
                <a:cs typeface="Arial"/>
              </a:defRPr>
            </a:lvl5pPr>
            <a:lvl6pPr>
              <a:defRPr sz="1725" b="0">
                <a:solidFill>
                  <a:srgbClr val="506477"/>
                </a:solidFill>
                <a:latin typeface="Arial"/>
                <a:ea typeface="Arial"/>
                <a:cs typeface="Arial"/>
              </a:defRPr>
            </a:lvl6pPr>
            <a:lvl7pPr>
              <a:defRPr sz="1725" b="0">
                <a:solidFill>
                  <a:srgbClr val="506477"/>
                </a:solidFill>
                <a:latin typeface="Arial"/>
                <a:ea typeface="Arial"/>
                <a:cs typeface="Arial"/>
              </a:defRPr>
            </a:lvl7pPr>
            <a:lvl8pPr>
              <a:defRPr sz="1725" b="0">
                <a:solidFill>
                  <a:srgbClr val="506477"/>
                </a:solidFill>
                <a:latin typeface="Arial"/>
                <a:ea typeface="Arial"/>
                <a:cs typeface="Arial"/>
              </a:defRPr>
            </a:lvl8pPr>
            <a:lvl9pPr>
              <a:defRPr sz="1725" b="0">
                <a:solidFill>
                  <a:srgbClr val="506477"/>
                </a:solidFill>
                <a:latin typeface="Arial"/>
                <a:ea typeface="Arial"/>
                <a:cs typeface="Arial"/>
              </a:defRPr>
            </a:lvl9pPr>
          </a:lstStyle>
          <a:p xmlns:a="http://schemas.openxmlformats.org/drawingml/2006/main">
            <a:pPr>
              <a:defRPr sz="1725" b="0">
                <a:solidFill>
                  <a:srgbClr val="506477"/>
                </a:solidFill>
                <a:latin typeface="Arial"/>
                <a:ea typeface="Arial"/>
                <a:cs typeface="Arial"/>
              </a:defRPr>
            </a:pPr>
            <a:r>
              <a:rPr sz="1725" b="0">
                <a:solidFill>
                  <a:srgbClr val="506477"/>
                </a:solidFill>
                <a:latin typeface="Arial"/>
                <a:ea typeface="Arial"/>
                <a:cs typeface="Arial"/>
              </a:rPr>
              <a:t>Reports retain source IDs, execution traces and provider receipts. Operators control any repair.</a:t>
            </a:r>
          </a:p>
        </p:txBody>
      </p:sp>
    </p:spTree>
    <p:extLst>
      <p:ext uri="{BB962C8B-B14F-4D97-AF65-F5344CB8AC3E}">
        <p14:creationId xmlns:p14="http://schemas.microsoft.com/office/powerpoint/2010/main" val="60601302"/>
      </p:ext>
    </p:extLst>
  </p:cSld>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49631D-3EEE-4EA7-8F42-EF6E74D574A9}"/>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PRODUCT</a:t>
            </a:r>
          </a:p>
        </p:txBody>
      </p:sp>
      <p:sp>
        <p:nvSpPr>
          <p:cNvPr id="2" name="">
            <a:extLst xmlns:a="http://schemas.openxmlformats.org/drawingml/2006/main">
              <a:ext uri="{FF2B5EF4-FFF2-40B4-BE49-F238E27FC236}">
                <a16:creationId xmlns:a16="http://schemas.microsoft.com/office/drawing/2014/main" id="{84B1728F-1388-4CF5-8F5F-2146914174C9}"/>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An operations workspace for the full incident</a:t>
            </a:r>
          </a:p>
        </p:txBody>
      </p:sp>
      <p:sp>
        <p:nvSpPr>
          <p:cNvPr id="3" name="">
            <a:extLst xmlns:a="http://schemas.openxmlformats.org/drawingml/2006/main">
              <a:ext uri="{FF2B5EF4-FFF2-40B4-BE49-F238E27FC236}">
                <a16:creationId xmlns:a16="http://schemas.microsoft.com/office/drawing/2014/main" id="{AACFEFB1-BD34-42AE-B6C2-2BD55BDD173A}"/>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9374BAE0-FADF-4A9E-92CF-7DA791FB4946}"/>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755E4DDA-F552-4A39-9EB2-C6C7329072B6}"/>
              </a:ext>
            </a:extLst>
          </p:cNvPr>
          <p:cNvPicPr>
            <a:picLocks xmlns:a="http://schemas.openxmlformats.org/drawingml/2006/main" noChangeAspect="1"/>
          </p:cNvPicPr>
          <p:nvPr/>
        </p:nvPicPr>
        <p:blipFill>
          <a:blip xmlns:r="http://schemas.openxmlformats.org/officeDocument/2006/relationships" xmlns:a="http://schemas.openxmlformats.org/drawingml/2006/main" r:embed="Rfcb7246b3e2d431c"/>
          <a:stretch xmlns:a="http://schemas.openxmlformats.org/drawingml/2006/main"/>
        </p:blipFill>
        <p:spPr>
          <a:xfrm xmlns:a="http://schemas.openxmlformats.org/drawingml/2006/main">
            <a:off x="5276522" y="1809750"/>
            <a:ext cx="4782207"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C49A5F-4A75-461C-AC21-B5571AABC5E9}"/>
              </a:ext>
            </a:extLst>
          </p:cNvPr>
          <p:cNvSpPr>
            <a:spLocks xmlns:a="http://schemas.openxmlformats.org/drawingml/2006/main" noGrp="1"/>
          </p:cNvSpPr>
          <p:nvPr/>
        </p:nvSpPr>
        <p:spPr>
          <a:xfrm xmlns:a="http://schemas.openxmlformats.org/drawingml/2006/main">
            <a:off x="609600" y="21431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02236"/>
                </a:solidFill>
                <a:latin typeface="Arial"/>
                <a:ea typeface="Arial"/>
                <a:cs typeface="Arial"/>
              </a:defRPr>
            </a:defPPr>
            <a:lvl1pPr>
              <a:defRPr sz="2400" b="1">
                <a:solidFill>
                  <a:srgbClr val="102236"/>
                </a:solidFill>
                <a:latin typeface="Arial"/>
                <a:ea typeface="Arial"/>
                <a:cs typeface="Arial"/>
              </a:defRPr>
            </a:lvl1pPr>
            <a:lvl2pPr>
              <a:defRPr sz="2400" b="1">
                <a:solidFill>
                  <a:srgbClr val="102236"/>
                </a:solidFill>
                <a:latin typeface="Arial"/>
                <a:ea typeface="Arial"/>
                <a:cs typeface="Arial"/>
              </a:defRPr>
            </a:lvl2pPr>
            <a:lvl3pPr>
              <a:defRPr sz="2400" b="1">
                <a:solidFill>
                  <a:srgbClr val="102236"/>
                </a:solidFill>
                <a:latin typeface="Arial"/>
                <a:ea typeface="Arial"/>
                <a:cs typeface="Arial"/>
              </a:defRPr>
            </a:lvl3pPr>
            <a:lvl4pPr>
              <a:defRPr sz="2400" b="1">
                <a:solidFill>
                  <a:srgbClr val="102236"/>
                </a:solidFill>
                <a:latin typeface="Arial"/>
                <a:ea typeface="Arial"/>
                <a:cs typeface="Arial"/>
              </a:defRPr>
            </a:lvl4pPr>
            <a:lvl5pPr>
              <a:defRPr sz="2400" b="1">
                <a:solidFill>
                  <a:srgbClr val="102236"/>
                </a:solidFill>
                <a:latin typeface="Arial"/>
                <a:ea typeface="Arial"/>
                <a:cs typeface="Arial"/>
              </a:defRPr>
            </a:lvl5pPr>
            <a:lvl6pPr>
              <a:defRPr sz="2400" b="1">
                <a:solidFill>
                  <a:srgbClr val="102236"/>
                </a:solidFill>
                <a:latin typeface="Arial"/>
                <a:ea typeface="Arial"/>
                <a:cs typeface="Arial"/>
              </a:defRPr>
            </a:lvl6pPr>
            <a:lvl7pPr>
              <a:defRPr sz="2400" b="1">
                <a:solidFill>
                  <a:srgbClr val="102236"/>
                </a:solidFill>
                <a:latin typeface="Arial"/>
                <a:ea typeface="Arial"/>
                <a:cs typeface="Arial"/>
              </a:defRPr>
            </a:lvl7pPr>
            <a:lvl8pPr>
              <a:defRPr sz="2400" b="1">
                <a:solidFill>
                  <a:srgbClr val="102236"/>
                </a:solidFill>
                <a:latin typeface="Arial"/>
                <a:ea typeface="Arial"/>
                <a:cs typeface="Arial"/>
              </a:defRPr>
            </a:lvl8pPr>
            <a:lvl9pPr>
              <a:defRPr sz="2400" b="1">
                <a:solidFill>
                  <a:srgbClr val="102236"/>
                </a:solidFill>
                <a:latin typeface="Arial"/>
                <a:ea typeface="Arial"/>
                <a:cs typeface="Arial"/>
              </a:defRPr>
            </a:lvl9pPr>
          </a:lstStyle>
          <a:p xmlns:a="http://schemas.openxmlformats.org/drawingml/2006/main">
            <a:pPr>
              <a:defRPr sz="2400" b="1">
                <a:solidFill>
                  <a:srgbClr val="102236"/>
                </a:solidFill>
                <a:latin typeface="Arial"/>
                <a:ea typeface="Arial"/>
                <a:cs typeface="Arial"/>
              </a:defRPr>
            </a:pPr>
            <a:r>
              <a:rPr sz="2400" b="1">
                <a:solidFill>
                  <a:srgbClr val="102236"/>
                </a:solidFill>
                <a:latin typeface="Arial"/>
                <a:ea typeface="Arial"/>
                <a:cs typeface="Arial"/>
              </a:rPr>
              <a:t>Host health</a:t>
            </a:r>
          </a:p>
          <a:p xmlns:a="http://schemas.openxmlformats.org/drawingml/2006/main">
            <a:pPr>
              <a:defRPr sz="2400" b="1">
                <a:solidFill>
                  <a:srgbClr val="102236"/>
                </a:solidFill>
                <a:latin typeface="Arial"/>
                <a:ea typeface="Arial"/>
                <a:cs typeface="Arial"/>
              </a:defRPr>
            </a:pPr>
            <a:r>
              <a:rPr sz="2400" b="1">
                <a:solidFill>
                  <a:srgbClr val="102236"/>
                </a:solidFill>
                <a:latin typeface="Arial"/>
                <a:ea typeface="Arial"/>
                <a:cs typeface="Arial"/>
              </a:rPr>
              <a:t>and queue history</a:t>
            </a:r>
          </a:p>
        </p:txBody>
      </p:sp>
      <p:sp>
        <p:nvSpPr>
          <p:cNvPr id="7" name="">
            <a:extLst xmlns:a="http://schemas.openxmlformats.org/drawingml/2006/main">
              <a:ext uri="{FF2B5EF4-FFF2-40B4-BE49-F238E27FC236}">
                <a16:creationId xmlns:a16="http://schemas.microsoft.com/office/drawing/2014/main" id="{752C7DDB-85CA-4958-99AF-37AD231E19E5}"/>
              </a:ext>
            </a:extLst>
          </p:cNvPr>
          <p:cNvSpPr>
            <a:spLocks xmlns:a="http://schemas.openxmlformats.org/drawingml/2006/main" noGrp="1"/>
          </p:cNvSpPr>
          <p:nvPr/>
        </p:nvSpPr>
        <p:spPr>
          <a:xfrm xmlns:a="http://schemas.openxmlformats.org/drawingml/2006/main">
            <a:off x="609600" y="3457575"/>
            <a:ext cx="30003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02236"/>
                </a:solidFill>
                <a:latin typeface="Arial"/>
                <a:ea typeface="Arial"/>
                <a:cs typeface="Arial"/>
              </a:defRPr>
            </a:defPPr>
            <a:lvl1pPr>
              <a:defRPr sz="1950" b="0">
                <a:solidFill>
                  <a:srgbClr val="102236"/>
                </a:solidFill>
                <a:latin typeface="Arial"/>
                <a:ea typeface="Arial"/>
                <a:cs typeface="Arial"/>
              </a:defRPr>
            </a:lvl1pPr>
            <a:lvl2pPr>
              <a:defRPr sz="1950" b="0">
                <a:solidFill>
                  <a:srgbClr val="102236"/>
                </a:solidFill>
                <a:latin typeface="Arial"/>
                <a:ea typeface="Arial"/>
                <a:cs typeface="Arial"/>
              </a:defRPr>
            </a:lvl2pPr>
            <a:lvl3pPr>
              <a:defRPr sz="1950" b="0">
                <a:solidFill>
                  <a:srgbClr val="102236"/>
                </a:solidFill>
                <a:latin typeface="Arial"/>
                <a:ea typeface="Arial"/>
                <a:cs typeface="Arial"/>
              </a:defRPr>
            </a:lvl3pPr>
            <a:lvl4pPr>
              <a:defRPr sz="1950" b="0">
                <a:solidFill>
                  <a:srgbClr val="102236"/>
                </a:solidFill>
                <a:latin typeface="Arial"/>
                <a:ea typeface="Arial"/>
                <a:cs typeface="Arial"/>
              </a:defRPr>
            </a:lvl4pPr>
            <a:lvl5pPr>
              <a:defRPr sz="1950" b="0">
                <a:solidFill>
                  <a:srgbClr val="102236"/>
                </a:solidFill>
                <a:latin typeface="Arial"/>
                <a:ea typeface="Arial"/>
                <a:cs typeface="Arial"/>
              </a:defRPr>
            </a:lvl5pPr>
            <a:lvl6pPr>
              <a:defRPr sz="1950" b="0">
                <a:solidFill>
                  <a:srgbClr val="102236"/>
                </a:solidFill>
                <a:latin typeface="Arial"/>
                <a:ea typeface="Arial"/>
                <a:cs typeface="Arial"/>
              </a:defRPr>
            </a:lvl6pPr>
            <a:lvl7pPr>
              <a:defRPr sz="1950" b="0">
                <a:solidFill>
                  <a:srgbClr val="102236"/>
                </a:solidFill>
                <a:latin typeface="Arial"/>
                <a:ea typeface="Arial"/>
                <a:cs typeface="Arial"/>
              </a:defRPr>
            </a:lvl7pPr>
            <a:lvl8pPr>
              <a:defRPr sz="1950" b="0">
                <a:solidFill>
                  <a:srgbClr val="102236"/>
                </a:solidFill>
                <a:latin typeface="Arial"/>
                <a:ea typeface="Arial"/>
                <a:cs typeface="Arial"/>
              </a:defRPr>
            </a:lvl8pPr>
            <a:lvl9pPr>
              <a:defRPr sz="1950" b="0">
                <a:solidFill>
                  <a:srgbClr val="102236"/>
                </a:solidFill>
                <a:latin typeface="Arial"/>
                <a:ea typeface="Arial"/>
                <a:cs typeface="Arial"/>
              </a:defRPr>
            </a:lvl9pPr>
          </a:lstStyle>
          <a:p xmlns:a="http://schemas.openxmlformats.org/drawingml/2006/main">
            <a:pPr>
              <a:defRPr sz="1950" b="0">
                <a:solidFill>
                  <a:srgbClr val="102236"/>
                </a:solidFill>
                <a:latin typeface="Arial"/>
                <a:ea typeface="Arial"/>
                <a:cs typeface="Arial"/>
              </a:defRPr>
            </a:pPr>
            <a:r>
              <a:rPr sz="1950" b="0">
                <a:solidFill>
                  <a:srgbClr val="102236"/>
                </a:solidFill>
                <a:latin typeface="Arial"/>
                <a:ea typeface="Arial"/>
                <a:cs typeface="Arial"/>
              </a:rPr>
              <a:t>Configurable monitors</a:t>
            </a:r>
          </a:p>
          <a:p xmlns:a="http://schemas.openxmlformats.org/drawingml/2006/main">
            <a:r>
              <a:t/>
            </a:r>
          </a:p>
          <a:p xmlns:a="http://schemas.openxmlformats.org/drawingml/2006/main">
            <a:pPr>
              <a:defRPr sz="1950" b="0">
                <a:solidFill>
                  <a:srgbClr val="102236"/>
                </a:solidFill>
                <a:latin typeface="Arial"/>
                <a:ea typeface="Arial"/>
                <a:cs typeface="Arial"/>
              </a:defRPr>
            </a:pPr>
            <a:r>
              <a:rPr sz="1950" b="0">
                <a:solidFill>
                  <a:srgbClr val="102236"/>
                </a:solidFill>
                <a:latin typeface="Arial"/>
                <a:ea typeface="Arial"/>
                <a:cs typeface="Arial"/>
              </a:rPr>
              <a:t>Alert acknowledgement</a:t>
            </a:r>
          </a:p>
          <a:p xmlns:a="http://schemas.openxmlformats.org/drawingml/2006/main">
            <a:pPr>
              <a:defRPr sz="1950" b="0">
                <a:solidFill>
                  <a:srgbClr val="102236"/>
                </a:solidFill>
                <a:latin typeface="Arial"/>
                <a:ea typeface="Arial"/>
                <a:cs typeface="Arial"/>
              </a:defRPr>
            </a:pPr>
            <a:r>
              <a:rPr sz="1950" b="0">
                <a:solidFill>
                  <a:srgbClr val="102236"/>
                </a:solidFill>
                <a:latin typeface="Arial"/>
                <a:ea typeface="Arial"/>
                <a:cs typeface="Arial"/>
              </a:rPr>
              <a:t>and ticket references</a:t>
            </a:r>
          </a:p>
          <a:p xmlns:a="http://schemas.openxmlformats.org/drawingml/2006/main">
            <a:r>
              <a:t/>
            </a:r>
          </a:p>
          <a:p xmlns:a="http://schemas.openxmlformats.org/drawingml/2006/main">
            <a:pPr>
              <a:defRPr sz="1950" b="0">
                <a:solidFill>
                  <a:srgbClr val="102236"/>
                </a:solidFill>
                <a:latin typeface="Arial"/>
                <a:ea typeface="Arial"/>
                <a:cs typeface="Arial"/>
              </a:defRPr>
            </a:pPr>
            <a:r>
              <a:rPr sz="1950" b="0">
                <a:solidFill>
                  <a:srgbClr val="102236"/>
                </a:solidFill>
                <a:latin typeface="Arial"/>
                <a:ea typeface="Arial"/>
                <a:cs typeface="Arial"/>
              </a:rPr>
              <a:t>Role-based administration</a:t>
            </a:r>
          </a:p>
        </p:txBody>
      </p:sp>
    </p:spTree>
    <p:extLst>
      <p:ext uri="{BB962C8B-B14F-4D97-AF65-F5344CB8AC3E}">
        <p14:creationId xmlns:p14="http://schemas.microsoft.com/office/powerpoint/2010/main" val="395050670"/>
      </p:ext>
    </p:extLst>
  </p:cSld>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85E362-C5CE-4F5D-85D0-4EDC0E7BDEEE}"/>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ACTUAL INVESTIGATION REPORT</a:t>
            </a:r>
          </a:p>
        </p:txBody>
      </p:sp>
      <p:sp>
        <p:nvSpPr>
          <p:cNvPr id="2" name="">
            <a:extLst xmlns:a="http://schemas.openxmlformats.org/drawingml/2006/main">
              <a:ext uri="{FF2B5EF4-FFF2-40B4-BE49-F238E27FC236}">
                <a16:creationId xmlns:a16="http://schemas.microsoft.com/office/drawing/2014/main" id="{5A6B408B-0BCD-4AA6-839E-964EE7415A75}"/>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An explanation linked to source observations</a:t>
            </a:r>
          </a:p>
        </p:txBody>
      </p:sp>
      <p:sp>
        <p:nvSpPr>
          <p:cNvPr id="3" name="">
            <a:extLst xmlns:a="http://schemas.openxmlformats.org/drawingml/2006/main">
              <a:ext uri="{FF2B5EF4-FFF2-40B4-BE49-F238E27FC236}">
                <a16:creationId xmlns:a16="http://schemas.microsoft.com/office/drawing/2014/main" id="{29DC1C1C-66B8-45AB-A180-42EB222D5946}"/>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38604B21-29CD-4C8F-B1E1-12B19FE2FA2A}"/>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B132F899-4BB0-4C71-8099-F38682CC939C}"/>
              </a:ext>
            </a:extLst>
          </p:cNvPr>
          <p:cNvPicPr>
            <a:picLocks xmlns:a="http://schemas.openxmlformats.org/drawingml/2006/main" noChangeAspect="1"/>
          </p:cNvPicPr>
          <p:nvPr/>
        </p:nvPicPr>
        <p:blipFill>
          <a:blip xmlns:r="http://schemas.openxmlformats.org/officeDocument/2006/relationships" xmlns:a="http://schemas.openxmlformats.org/drawingml/2006/main" r:embed="Rb2827f1b91094bd3"/>
          <a:stretch xmlns:a="http://schemas.openxmlformats.org/drawingml/2006/main"/>
        </p:blipFill>
        <p:spPr>
          <a:xfrm xmlns:a="http://schemas.openxmlformats.org/drawingml/2006/main">
            <a:off x="1901078" y="1981200"/>
            <a:ext cx="8370794" cy="3000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B8B859B-83B9-40FF-B3D7-8246871F31C4}"/>
              </a:ext>
            </a:extLst>
          </p:cNvPr>
          <p:cNvSpPr>
            <a:spLocks xmlns:a="http://schemas.openxmlformats.org/drawingml/2006/main" noGrp="1"/>
          </p:cNvSpPr>
          <p:nvPr/>
        </p:nvSpPr>
        <p:spPr>
          <a:xfrm xmlns:a="http://schemas.openxmlformats.org/drawingml/2006/main">
            <a:off x="609600" y="5286375"/>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F87"/>
                </a:solidFill>
                <a:latin typeface="Arial"/>
                <a:ea typeface="Arial"/>
                <a:cs typeface="Arial"/>
              </a:defRPr>
            </a:defPPr>
            <a:lvl1pPr>
              <a:defRPr sz="1950" b="1">
                <a:solidFill>
                  <a:srgbClr val="007F87"/>
                </a:solidFill>
                <a:latin typeface="Arial"/>
                <a:ea typeface="Arial"/>
                <a:cs typeface="Arial"/>
              </a:defRPr>
            </a:lvl1pPr>
            <a:lvl2pPr>
              <a:defRPr sz="1950" b="1">
                <a:solidFill>
                  <a:srgbClr val="007F87"/>
                </a:solidFill>
                <a:latin typeface="Arial"/>
                <a:ea typeface="Arial"/>
                <a:cs typeface="Arial"/>
              </a:defRPr>
            </a:lvl2pPr>
            <a:lvl3pPr>
              <a:defRPr sz="1950" b="1">
                <a:solidFill>
                  <a:srgbClr val="007F87"/>
                </a:solidFill>
                <a:latin typeface="Arial"/>
                <a:ea typeface="Arial"/>
                <a:cs typeface="Arial"/>
              </a:defRPr>
            </a:lvl3pPr>
            <a:lvl4pPr>
              <a:defRPr sz="1950" b="1">
                <a:solidFill>
                  <a:srgbClr val="007F87"/>
                </a:solidFill>
                <a:latin typeface="Arial"/>
                <a:ea typeface="Arial"/>
                <a:cs typeface="Arial"/>
              </a:defRPr>
            </a:lvl4pPr>
            <a:lvl5pPr>
              <a:defRPr sz="1950" b="1">
                <a:solidFill>
                  <a:srgbClr val="007F87"/>
                </a:solidFill>
                <a:latin typeface="Arial"/>
                <a:ea typeface="Arial"/>
                <a:cs typeface="Arial"/>
              </a:defRPr>
            </a:lvl5pPr>
            <a:lvl6pPr>
              <a:defRPr sz="1950" b="1">
                <a:solidFill>
                  <a:srgbClr val="007F87"/>
                </a:solidFill>
                <a:latin typeface="Arial"/>
                <a:ea typeface="Arial"/>
                <a:cs typeface="Arial"/>
              </a:defRPr>
            </a:lvl6pPr>
            <a:lvl7pPr>
              <a:defRPr sz="1950" b="1">
                <a:solidFill>
                  <a:srgbClr val="007F87"/>
                </a:solidFill>
                <a:latin typeface="Arial"/>
                <a:ea typeface="Arial"/>
                <a:cs typeface="Arial"/>
              </a:defRPr>
            </a:lvl7pPr>
            <a:lvl8pPr>
              <a:defRPr sz="1950" b="1">
                <a:solidFill>
                  <a:srgbClr val="007F87"/>
                </a:solidFill>
                <a:latin typeface="Arial"/>
                <a:ea typeface="Arial"/>
                <a:cs typeface="Arial"/>
              </a:defRPr>
            </a:lvl8pPr>
            <a:lvl9pPr>
              <a:defRPr sz="1950" b="1">
                <a:solidFill>
                  <a:srgbClr val="007F87"/>
                </a:solidFill>
                <a:latin typeface="Arial"/>
                <a:ea typeface="Arial"/>
                <a:cs typeface="Arial"/>
              </a:defRPr>
            </a:lvl9pPr>
          </a:lstStyle>
          <a:p xmlns:a="http://schemas.openxmlformats.org/drawingml/2006/main">
            <a:pPr>
              <a:defRPr sz="1950" b="1">
                <a:solidFill>
                  <a:srgbClr val="007F87"/>
                </a:solidFill>
                <a:latin typeface="Arial"/>
                <a:ea typeface="Arial"/>
                <a:cs typeface="Arial"/>
              </a:defRPr>
            </a:pPr>
            <a:r>
              <a:rPr sz="1950" b="1">
                <a:solidFill>
                  <a:srgbClr val="007F87"/>
                </a:solidFill>
                <a:latin typeface="Arial"/>
                <a:ea typeface="Arial"/>
                <a:cs typeface="Arial"/>
              </a:rPr>
              <a:t>Observed symptom</a:t>
            </a:r>
          </a:p>
        </p:txBody>
      </p:sp>
      <p:sp>
        <p:nvSpPr>
          <p:cNvPr id="7" name="">
            <a:extLst xmlns:a="http://schemas.openxmlformats.org/drawingml/2006/main">
              <a:ext uri="{FF2B5EF4-FFF2-40B4-BE49-F238E27FC236}">
                <a16:creationId xmlns:a16="http://schemas.microsoft.com/office/drawing/2014/main" id="{80B1B62C-1EB5-4560-85EA-360014D1FF99}"/>
              </a:ext>
            </a:extLst>
          </p:cNvPr>
          <p:cNvSpPr>
            <a:spLocks xmlns:a="http://schemas.openxmlformats.org/drawingml/2006/main" noGrp="1"/>
          </p:cNvSpPr>
          <p:nvPr/>
        </p:nvSpPr>
        <p:spPr>
          <a:xfrm xmlns:a="http://schemas.openxmlformats.org/drawingml/2006/main">
            <a:off x="609600" y="5686425"/>
            <a:ext cx="309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02236"/>
                </a:solidFill>
                <a:latin typeface="Arial"/>
                <a:ea typeface="Arial"/>
                <a:cs typeface="Arial"/>
              </a:defRPr>
            </a:defPPr>
            <a:lvl1pPr>
              <a:defRPr sz="1950" b="0">
                <a:solidFill>
                  <a:srgbClr val="102236"/>
                </a:solidFill>
                <a:latin typeface="Arial"/>
                <a:ea typeface="Arial"/>
                <a:cs typeface="Arial"/>
              </a:defRPr>
            </a:lvl1pPr>
            <a:lvl2pPr>
              <a:defRPr sz="1950" b="0">
                <a:solidFill>
                  <a:srgbClr val="102236"/>
                </a:solidFill>
                <a:latin typeface="Arial"/>
                <a:ea typeface="Arial"/>
                <a:cs typeface="Arial"/>
              </a:defRPr>
            </a:lvl2pPr>
            <a:lvl3pPr>
              <a:defRPr sz="1950" b="0">
                <a:solidFill>
                  <a:srgbClr val="102236"/>
                </a:solidFill>
                <a:latin typeface="Arial"/>
                <a:ea typeface="Arial"/>
                <a:cs typeface="Arial"/>
              </a:defRPr>
            </a:lvl3pPr>
            <a:lvl4pPr>
              <a:defRPr sz="1950" b="0">
                <a:solidFill>
                  <a:srgbClr val="102236"/>
                </a:solidFill>
                <a:latin typeface="Arial"/>
                <a:ea typeface="Arial"/>
                <a:cs typeface="Arial"/>
              </a:defRPr>
            </a:lvl4pPr>
            <a:lvl5pPr>
              <a:defRPr sz="1950" b="0">
                <a:solidFill>
                  <a:srgbClr val="102236"/>
                </a:solidFill>
                <a:latin typeface="Arial"/>
                <a:ea typeface="Arial"/>
                <a:cs typeface="Arial"/>
              </a:defRPr>
            </a:lvl5pPr>
            <a:lvl6pPr>
              <a:defRPr sz="1950" b="0">
                <a:solidFill>
                  <a:srgbClr val="102236"/>
                </a:solidFill>
                <a:latin typeface="Arial"/>
                <a:ea typeface="Arial"/>
                <a:cs typeface="Arial"/>
              </a:defRPr>
            </a:lvl6pPr>
            <a:lvl7pPr>
              <a:defRPr sz="1950" b="0">
                <a:solidFill>
                  <a:srgbClr val="102236"/>
                </a:solidFill>
                <a:latin typeface="Arial"/>
                <a:ea typeface="Arial"/>
                <a:cs typeface="Arial"/>
              </a:defRPr>
            </a:lvl7pPr>
            <a:lvl8pPr>
              <a:defRPr sz="1950" b="0">
                <a:solidFill>
                  <a:srgbClr val="102236"/>
                </a:solidFill>
                <a:latin typeface="Arial"/>
                <a:ea typeface="Arial"/>
                <a:cs typeface="Arial"/>
              </a:defRPr>
            </a:lvl8pPr>
            <a:lvl9pPr>
              <a:defRPr sz="1950" b="0">
                <a:solidFill>
                  <a:srgbClr val="102236"/>
                </a:solidFill>
                <a:latin typeface="Arial"/>
                <a:ea typeface="Arial"/>
                <a:cs typeface="Arial"/>
              </a:defRPr>
            </a:lvl9pPr>
          </a:lstStyle>
          <a:p xmlns:a="http://schemas.openxmlformats.org/drawingml/2006/main">
            <a:pPr>
              <a:defRPr sz="1950" b="0">
                <a:solidFill>
                  <a:srgbClr val="102236"/>
                </a:solidFill>
                <a:latin typeface="Arial"/>
                <a:ea typeface="Arial"/>
                <a:cs typeface="Arial"/>
              </a:defRPr>
            </a:pPr>
            <a:r>
              <a:rPr sz="1950" b="0">
                <a:solidFill>
                  <a:srgbClr val="102236"/>
                </a:solidFill>
                <a:latin typeface="Arial"/>
                <a:ea typeface="Arial"/>
                <a:cs typeface="Arial"/>
              </a:rPr>
              <a:t>VOICE output backlog</a:t>
            </a:r>
          </a:p>
        </p:txBody>
      </p:sp>
      <p:sp>
        <p:nvSpPr>
          <p:cNvPr id="8" name="">
            <a:extLst xmlns:a="http://schemas.openxmlformats.org/drawingml/2006/main">
              <a:ext uri="{FF2B5EF4-FFF2-40B4-BE49-F238E27FC236}">
                <a16:creationId xmlns:a16="http://schemas.microsoft.com/office/drawing/2014/main" id="{036D85DE-AC87-4DDE-90F5-87842AF769FB}"/>
              </a:ext>
            </a:extLst>
          </p:cNvPr>
          <p:cNvSpPr>
            <a:spLocks xmlns:a="http://schemas.openxmlformats.org/drawingml/2006/main" noGrp="1"/>
          </p:cNvSpPr>
          <p:nvPr/>
        </p:nvSpPr>
        <p:spPr>
          <a:xfrm xmlns:a="http://schemas.openxmlformats.org/drawingml/2006/main">
            <a:off x="4286250" y="52863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F87"/>
                </a:solidFill>
                <a:latin typeface="Arial"/>
                <a:ea typeface="Arial"/>
                <a:cs typeface="Arial"/>
              </a:defRPr>
            </a:defPPr>
            <a:lvl1pPr>
              <a:defRPr sz="1950" b="1">
                <a:solidFill>
                  <a:srgbClr val="007F87"/>
                </a:solidFill>
                <a:latin typeface="Arial"/>
                <a:ea typeface="Arial"/>
                <a:cs typeface="Arial"/>
              </a:defRPr>
            </a:lvl1pPr>
            <a:lvl2pPr>
              <a:defRPr sz="1950" b="1">
                <a:solidFill>
                  <a:srgbClr val="007F87"/>
                </a:solidFill>
                <a:latin typeface="Arial"/>
                <a:ea typeface="Arial"/>
                <a:cs typeface="Arial"/>
              </a:defRPr>
            </a:lvl2pPr>
            <a:lvl3pPr>
              <a:defRPr sz="1950" b="1">
                <a:solidFill>
                  <a:srgbClr val="007F87"/>
                </a:solidFill>
                <a:latin typeface="Arial"/>
                <a:ea typeface="Arial"/>
                <a:cs typeface="Arial"/>
              </a:defRPr>
            </a:lvl3pPr>
            <a:lvl4pPr>
              <a:defRPr sz="1950" b="1">
                <a:solidFill>
                  <a:srgbClr val="007F87"/>
                </a:solidFill>
                <a:latin typeface="Arial"/>
                <a:ea typeface="Arial"/>
                <a:cs typeface="Arial"/>
              </a:defRPr>
            </a:lvl4pPr>
            <a:lvl5pPr>
              <a:defRPr sz="1950" b="1">
                <a:solidFill>
                  <a:srgbClr val="007F87"/>
                </a:solidFill>
                <a:latin typeface="Arial"/>
                <a:ea typeface="Arial"/>
                <a:cs typeface="Arial"/>
              </a:defRPr>
            </a:lvl5pPr>
            <a:lvl6pPr>
              <a:defRPr sz="1950" b="1">
                <a:solidFill>
                  <a:srgbClr val="007F87"/>
                </a:solidFill>
                <a:latin typeface="Arial"/>
                <a:ea typeface="Arial"/>
                <a:cs typeface="Arial"/>
              </a:defRPr>
            </a:lvl6pPr>
            <a:lvl7pPr>
              <a:defRPr sz="1950" b="1">
                <a:solidFill>
                  <a:srgbClr val="007F87"/>
                </a:solidFill>
                <a:latin typeface="Arial"/>
                <a:ea typeface="Arial"/>
                <a:cs typeface="Arial"/>
              </a:defRPr>
            </a:lvl7pPr>
            <a:lvl8pPr>
              <a:defRPr sz="1950" b="1">
                <a:solidFill>
                  <a:srgbClr val="007F87"/>
                </a:solidFill>
                <a:latin typeface="Arial"/>
                <a:ea typeface="Arial"/>
                <a:cs typeface="Arial"/>
              </a:defRPr>
            </a:lvl8pPr>
            <a:lvl9pPr>
              <a:defRPr sz="1950" b="1">
                <a:solidFill>
                  <a:srgbClr val="007F87"/>
                </a:solidFill>
                <a:latin typeface="Arial"/>
                <a:ea typeface="Arial"/>
                <a:cs typeface="Arial"/>
              </a:defRPr>
            </a:lvl9pPr>
          </a:lstStyle>
          <a:p xmlns:a="http://schemas.openxmlformats.org/drawingml/2006/main">
            <a:pPr>
              <a:defRPr sz="1950" b="1">
                <a:solidFill>
                  <a:srgbClr val="007F87"/>
                </a:solidFill>
                <a:latin typeface="Arial"/>
                <a:ea typeface="Arial"/>
                <a:cs typeface="Arial"/>
              </a:defRPr>
            </a:pPr>
            <a:r>
              <a:rPr sz="1950" b="1">
                <a:solidFill>
                  <a:srgbClr val="007F87"/>
                </a:solidFill>
                <a:latin typeface="Arial"/>
                <a:ea typeface="Arial"/>
                <a:cs typeface="Arial"/>
              </a:rPr>
              <a:t>Supporting evidence</a:t>
            </a:r>
          </a:p>
        </p:txBody>
      </p:sp>
      <p:sp>
        <p:nvSpPr>
          <p:cNvPr id="9" name="">
            <a:extLst xmlns:a="http://schemas.openxmlformats.org/drawingml/2006/main">
              <a:ext uri="{FF2B5EF4-FFF2-40B4-BE49-F238E27FC236}">
                <a16:creationId xmlns:a16="http://schemas.microsoft.com/office/drawing/2014/main" id="{17670EAB-EFC2-490D-AA13-0CBC928D7436}"/>
              </a:ext>
            </a:extLst>
          </p:cNvPr>
          <p:cNvSpPr>
            <a:spLocks xmlns:a="http://schemas.openxmlformats.org/drawingml/2006/main" noGrp="1"/>
          </p:cNvSpPr>
          <p:nvPr/>
        </p:nvSpPr>
        <p:spPr>
          <a:xfrm xmlns:a="http://schemas.openxmlformats.org/drawingml/2006/main">
            <a:off x="4286250" y="5686425"/>
            <a:ext cx="690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02236"/>
                </a:solidFill>
                <a:latin typeface="Arial"/>
                <a:ea typeface="Arial"/>
                <a:cs typeface="Arial"/>
              </a:defRPr>
            </a:defPPr>
            <a:lvl1pPr>
              <a:defRPr sz="1950" b="0">
                <a:solidFill>
                  <a:srgbClr val="102236"/>
                </a:solidFill>
                <a:latin typeface="Arial"/>
                <a:ea typeface="Arial"/>
                <a:cs typeface="Arial"/>
              </a:defRPr>
            </a:lvl1pPr>
            <a:lvl2pPr>
              <a:defRPr sz="1950" b="0">
                <a:solidFill>
                  <a:srgbClr val="102236"/>
                </a:solidFill>
                <a:latin typeface="Arial"/>
                <a:ea typeface="Arial"/>
                <a:cs typeface="Arial"/>
              </a:defRPr>
            </a:lvl2pPr>
            <a:lvl3pPr>
              <a:defRPr sz="1950" b="0">
                <a:solidFill>
                  <a:srgbClr val="102236"/>
                </a:solidFill>
                <a:latin typeface="Arial"/>
                <a:ea typeface="Arial"/>
                <a:cs typeface="Arial"/>
              </a:defRPr>
            </a:lvl3pPr>
            <a:lvl4pPr>
              <a:defRPr sz="1950" b="0">
                <a:solidFill>
                  <a:srgbClr val="102236"/>
                </a:solidFill>
                <a:latin typeface="Arial"/>
                <a:ea typeface="Arial"/>
                <a:cs typeface="Arial"/>
              </a:defRPr>
            </a:lvl4pPr>
            <a:lvl5pPr>
              <a:defRPr sz="1950" b="0">
                <a:solidFill>
                  <a:srgbClr val="102236"/>
                </a:solidFill>
                <a:latin typeface="Arial"/>
                <a:ea typeface="Arial"/>
                <a:cs typeface="Arial"/>
              </a:defRPr>
            </a:lvl5pPr>
            <a:lvl6pPr>
              <a:defRPr sz="1950" b="0">
                <a:solidFill>
                  <a:srgbClr val="102236"/>
                </a:solidFill>
                <a:latin typeface="Arial"/>
                <a:ea typeface="Arial"/>
                <a:cs typeface="Arial"/>
              </a:defRPr>
            </a:lvl6pPr>
            <a:lvl7pPr>
              <a:defRPr sz="1950" b="0">
                <a:solidFill>
                  <a:srgbClr val="102236"/>
                </a:solidFill>
                <a:latin typeface="Arial"/>
                <a:ea typeface="Arial"/>
                <a:cs typeface="Arial"/>
              </a:defRPr>
            </a:lvl7pPr>
            <a:lvl8pPr>
              <a:defRPr sz="1950" b="0">
                <a:solidFill>
                  <a:srgbClr val="102236"/>
                </a:solidFill>
                <a:latin typeface="Arial"/>
                <a:ea typeface="Arial"/>
                <a:cs typeface="Arial"/>
              </a:defRPr>
            </a:lvl8pPr>
            <a:lvl9pPr>
              <a:defRPr sz="1950" b="0">
                <a:solidFill>
                  <a:srgbClr val="102236"/>
                </a:solidFill>
                <a:latin typeface="Arial"/>
                <a:ea typeface="Arial"/>
                <a:cs typeface="Arial"/>
              </a:defRPr>
            </a:lvl9pPr>
          </a:lstStyle>
          <a:p xmlns:a="http://schemas.openxmlformats.org/drawingml/2006/main">
            <a:pPr>
              <a:defRPr sz="1950" b="0">
                <a:solidFill>
                  <a:srgbClr val="102236"/>
                </a:solidFill>
                <a:latin typeface="Arial"/>
                <a:ea typeface="Arial"/>
                <a:cs typeface="Arial"/>
              </a:defRPr>
            </a:pPr>
            <a:r>
              <a:rPr sz="1950" b="0">
                <a:solidFill>
                  <a:srgbClr val="102236"/>
                </a:solidFill>
                <a:latin typeface="Arial"/>
                <a:ea typeface="Arial"/>
                <a:cs typeface="Arial"/>
              </a:rPr>
              <a:t>Output disabled while application processes remain active</a:t>
            </a:r>
          </a:p>
        </p:txBody>
      </p:sp>
    </p:spTree>
    <p:extLst>
      <p:ext uri="{BB962C8B-B14F-4D97-AF65-F5344CB8AC3E}">
        <p14:creationId xmlns:p14="http://schemas.microsoft.com/office/powerpoint/2010/main" val="2143913174"/>
      </p:ext>
    </p:extLst>
  </p:cSld>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4B90AE-B1A8-4701-98BF-44DA0B404EE5}"/>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WHAT WORKS TODAY</a:t>
            </a:r>
          </a:p>
        </p:txBody>
      </p:sp>
      <p:sp>
        <p:nvSpPr>
          <p:cNvPr id="2" name="">
            <a:extLst xmlns:a="http://schemas.openxmlformats.org/drawingml/2006/main">
              <a:ext uri="{FF2B5EF4-FFF2-40B4-BE49-F238E27FC236}">
                <a16:creationId xmlns:a16="http://schemas.microsoft.com/office/drawing/2014/main" id="{DCBC09C5-D553-4D40-8195-4E75D69E4322}"/>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Reproduction and validation evidence</a:t>
            </a:r>
          </a:p>
        </p:txBody>
      </p:sp>
      <p:sp>
        <p:nvSpPr>
          <p:cNvPr id="3" name="">
            <a:extLst xmlns:a="http://schemas.openxmlformats.org/drawingml/2006/main">
              <a:ext uri="{FF2B5EF4-FFF2-40B4-BE49-F238E27FC236}">
                <a16:creationId xmlns:a16="http://schemas.microsoft.com/office/drawing/2014/main" id="{83510AFB-CDD5-48E1-B9E1-3A7349A37EE9}"/>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13DFD451-DD6E-4B7A-BFC3-FEA2F078104D}"/>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B9F6C19-237F-47CB-9263-D85D57522F09}"/>
              </a:ext>
            </a:extLst>
          </p:cNvPr>
          <p:cNvSpPr>
            <a:spLocks xmlns:a="http://schemas.openxmlformats.org/drawingml/2006/main" noGrp="1"/>
          </p:cNvSpPr>
          <p:nvPr/>
        </p:nvSpPr>
        <p:spPr>
          <a:xfrm xmlns:a="http://schemas.openxmlformats.org/drawingml/2006/main">
            <a:off x="609600" y="21240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07F87"/>
                </a:solidFill>
                <a:latin typeface="Arial"/>
                <a:ea typeface="Arial"/>
                <a:cs typeface="Arial"/>
              </a:defRPr>
            </a:defPPr>
            <a:lvl1pPr>
              <a:defRPr sz="1500" b="1">
                <a:solidFill>
                  <a:srgbClr val="007F87"/>
                </a:solidFill>
                <a:latin typeface="Arial"/>
                <a:ea typeface="Arial"/>
                <a:cs typeface="Arial"/>
              </a:defRPr>
            </a:lvl1pPr>
            <a:lvl2pPr>
              <a:defRPr sz="1500" b="1">
                <a:solidFill>
                  <a:srgbClr val="007F87"/>
                </a:solidFill>
                <a:latin typeface="Arial"/>
                <a:ea typeface="Arial"/>
                <a:cs typeface="Arial"/>
              </a:defRPr>
            </a:lvl2pPr>
            <a:lvl3pPr>
              <a:defRPr sz="1500" b="1">
                <a:solidFill>
                  <a:srgbClr val="007F87"/>
                </a:solidFill>
                <a:latin typeface="Arial"/>
                <a:ea typeface="Arial"/>
                <a:cs typeface="Arial"/>
              </a:defRPr>
            </a:lvl3pPr>
            <a:lvl4pPr>
              <a:defRPr sz="1500" b="1">
                <a:solidFill>
                  <a:srgbClr val="007F87"/>
                </a:solidFill>
                <a:latin typeface="Arial"/>
                <a:ea typeface="Arial"/>
                <a:cs typeface="Arial"/>
              </a:defRPr>
            </a:lvl4pPr>
            <a:lvl5pPr>
              <a:defRPr sz="1500" b="1">
                <a:solidFill>
                  <a:srgbClr val="007F87"/>
                </a:solidFill>
                <a:latin typeface="Arial"/>
                <a:ea typeface="Arial"/>
                <a:cs typeface="Arial"/>
              </a:defRPr>
            </a:lvl5pPr>
            <a:lvl6pPr>
              <a:defRPr sz="1500" b="1">
                <a:solidFill>
                  <a:srgbClr val="007F87"/>
                </a:solidFill>
                <a:latin typeface="Arial"/>
                <a:ea typeface="Arial"/>
                <a:cs typeface="Arial"/>
              </a:defRPr>
            </a:lvl6pPr>
            <a:lvl7pPr>
              <a:defRPr sz="1500" b="1">
                <a:solidFill>
                  <a:srgbClr val="007F87"/>
                </a:solidFill>
                <a:latin typeface="Arial"/>
                <a:ea typeface="Arial"/>
                <a:cs typeface="Arial"/>
              </a:defRPr>
            </a:lvl7pPr>
            <a:lvl8pPr>
              <a:defRPr sz="1500" b="1">
                <a:solidFill>
                  <a:srgbClr val="007F87"/>
                </a:solidFill>
                <a:latin typeface="Arial"/>
                <a:ea typeface="Arial"/>
                <a:cs typeface="Arial"/>
              </a:defRPr>
            </a:lvl8pPr>
            <a:lvl9pPr>
              <a:defRPr sz="1500" b="1">
                <a:solidFill>
                  <a:srgbClr val="007F87"/>
                </a:solidFill>
                <a:latin typeface="Arial"/>
                <a:ea typeface="Arial"/>
                <a:cs typeface="Arial"/>
              </a:defRPr>
            </a:lvl9pPr>
          </a:lstStyle>
          <a:p xmlns:a="http://schemas.openxmlformats.org/drawingml/2006/main">
            <a:pPr>
              <a:defRPr sz="1500" b="1">
                <a:solidFill>
                  <a:srgbClr val="007F87"/>
                </a:solidFill>
                <a:latin typeface="Arial"/>
                <a:ea typeface="Arial"/>
                <a:cs typeface="Arial"/>
              </a:defRPr>
            </a:pPr>
            <a:r>
              <a:rPr sz="1500" b="1">
                <a:solidFill>
                  <a:srgbClr val="007F87"/>
                </a:solidFill>
                <a:latin typeface="Arial"/>
                <a:ea typeface="Arial"/>
                <a:cs typeface="Arial"/>
              </a:rPr>
              <a:t>LIVE INSTALLATION</a:t>
            </a:r>
          </a:p>
        </p:txBody>
      </p:sp>
      <p:sp>
        <p:nvSpPr>
          <p:cNvPr id="6" name="">
            <a:extLst xmlns:a="http://schemas.openxmlformats.org/drawingml/2006/main">
              <a:ext uri="{FF2B5EF4-FFF2-40B4-BE49-F238E27FC236}">
                <a16:creationId xmlns:a16="http://schemas.microsoft.com/office/drawing/2014/main" id="{E3B99F8A-250D-489C-8847-A4E3D6488F1B}"/>
              </a:ext>
            </a:extLst>
          </p:cNvPr>
          <p:cNvSpPr>
            <a:spLocks xmlns:a="http://schemas.openxmlformats.org/drawingml/2006/main" noGrp="1"/>
          </p:cNvSpPr>
          <p:nvPr/>
        </p:nvSpPr>
        <p:spPr>
          <a:xfrm xmlns:a="http://schemas.openxmlformats.org/drawingml/2006/main">
            <a:off x="609600" y="2686050"/>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236"/>
                </a:solidFill>
                <a:latin typeface="Arial"/>
                <a:ea typeface="Arial"/>
                <a:cs typeface="Arial"/>
              </a:defRPr>
            </a:defPPr>
            <a:lvl1pPr>
              <a:defRPr sz="2100" b="0">
                <a:solidFill>
                  <a:srgbClr val="102236"/>
                </a:solidFill>
                <a:latin typeface="Arial"/>
                <a:ea typeface="Arial"/>
                <a:cs typeface="Arial"/>
              </a:defRPr>
            </a:lvl1pPr>
            <a:lvl2pPr>
              <a:defRPr sz="2100" b="0">
                <a:solidFill>
                  <a:srgbClr val="102236"/>
                </a:solidFill>
                <a:latin typeface="Arial"/>
                <a:ea typeface="Arial"/>
                <a:cs typeface="Arial"/>
              </a:defRPr>
            </a:lvl2pPr>
            <a:lvl3pPr>
              <a:defRPr sz="2100" b="0">
                <a:solidFill>
                  <a:srgbClr val="102236"/>
                </a:solidFill>
                <a:latin typeface="Arial"/>
                <a:ea typeface="Arial"/>
                <a:cs typeface="Arial"/>
              </a:defRPr>
            </a:lvl3pPr>
            <a:lvl4pPr>
              <a:defRPr sz="2100" b="0">
                <a:solidFill>
                  <a:srgbClr val="102236"/>
                </a:solidFill>
                <a:latin typeface="Arial"/>
                <a:ea typeface="Arial"/>
                <a:cs typeface="Arial"/>
              </a:defRPr>
            </a:lvl4pPr>
            <a:lvl5pPr>
              <a:defRPr sz="2100" b="0">
                <a:solidFill>
                  <a:srgbClr val="102236"/>
                </a:solidFill>
                <a:latin typeface="Arial"/>
                <a:ea typeface="Arial"/>
                <a:cs typeface="Arial"/>
              </a:defRPr>
            </a:lvl5pPr>
            <a:lvl6pPr>
              <a:defRPr sz="2100" b="0">
                <a:solidFill>
                  <a:srgbClr val="102236"/>
                </a:solidFill>
                <a:latin typeface="Arial"/>
                <a:ea typeface="Arial"/>
                <a:cs typeface="Arial"/>
              </a:defRPr>
            </a:lvl6pPr>
            <a:lvl7pPr>
              <a:defRPr sz="2100" b="0">
                <a:solidFill>
                  <a:srgbClr val="102236"/>
                </a:solidFill>
                <a:latin typeface="Arial"/>
                <a:ea typeface="Arial"/>
                <a:cs typeface="Arial"/>
              </a:defRPr>
            </a:lvl7pPr>
            <a:lvl8pPr>
              <a:defRPr sz="2100" b="0">
                <a:solidFill>
                  <a:srgbClr val="102236"/>
                </a:solidFill>
                <a:latin typeface="Arial"/>
                <a:ea typeface="Arial"/>
                <a:cs typeface="Arial"/>
              </a:defRPr>
            </a:lvl8pPr>
            <a:lvl9pPr>
              <a:defRPr sz="2100" b="0">
                <a:solidFill>
                  <a:srgbClr val="102236"/>
                </a:solidFill>
                <a:latin typeface="Arial"/>
                <a:ea typeface="Arial"/>
                <a:cs typeface="Arial"/>
              </a:defRPr>
            </a:lvl9pPr>
          </a:lstStyle>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Fresh repository checkout</a:t>
            </a:r>
          </a:p>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Linux telemetry and real AI analysis</a:t>
            </a:r>
          </a:p>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External webhook and recovery</a:t>
            </a:r>
          </a:p>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Persistent configuration and history</a:t>
            </a:r>
          </a:p>
        </p:txBody>
      </p:sp>
      <p:sp>
        <p:nvSpPr>
          <p:cNvPr id="7" name="">
            <a:extLst xmlns:a="http://schemas.openxmlformats.org/drawingml/2006/main">
              <a:ext uri="{FF2B5EF4-FFF2-40B4-BE49-F238E27FC236}">
                <a16:creationId xmlns:a16="http://schemas.microsoft.com/office/drawing/2014/main" id="{F0D74507-CB30-496E-82ED-F81A43BBE3C3}"/>
              </a:ext>
            </a:extLst>
          </p:cNvPr>
          <p:cNvSpPr>
            <a:spLocks xmlns:a="http://schemas.openxmlformats.org/drawingml/2006/main" noGrp="1"/>
          </p:cNvSpPr>
          <p:nvPr/>
        </p:nvSpPr>
        <p:spPr>
          <a:xfrm xmlns:a="http://schemas.openxmlformats.org/drawingml/2006/main">
            <a:off x="6667500" y="2124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07F87"/>
                </a:solidFill>
                <a:latin typeface="Arial"/>
                <a:ea typeface="Arial"/>
                <a:cs typeface="Arial"/>
              </a:defRPr>
            </a:defPPr>
            <a:lvl1pPr>
              <a:defRPr sz="1500" b="1">
                <a:solidFill>
                  <a:srgbClr val="007F87"/>
                </a:solidFill>
                <a:latin typeface="Arial"/>
                <a:ea typeface="Arial"/>
                <a:cs typeface="Arial"/>
              </a:defRPr>
            </a:lvl1pPr>
            <a:lvl2pPr>
              <a:defRPr sz="1500" b="1">
                <a:solidFill>
                  <a:srgbClr val="007F87"/>
                </a:solidFill>
                <a:latin typeface="Arial"/>
                <a:ea typeface="Arial"/>
                <a:cs typeface="Arial"/>
              </a:defRPr>
            </a:lvl2pPr>
            <a:lvl3pPr>
              <a:defRPr sz="1500" b="1">
                <a:solidFill>
                  <a:srgbClr val="007F87"/>
                </a:solidFill>
                <a:latin typeface="Arial"/>
                <a:ea typeface="Arial"/>
                <a:cs typeface="Arial"/>
              </a:defRPr>
            </a:lvl3pPr>
            <a:lvl4pPr>
              <a:defRPr sz="1500" b="1">
                <a:solidFill>
                  <a:srgbClr val="007F87"/>
                </a:solidFill>
                <a:latin typeface="Arial"/>
                <a:ea typeface="Arial"/>
                <a:cs typeface="Arial"/>
              </a:defRPr>
            </a:lvl4pPr>
            <a:lvl5pPr>
              <a:defRPr sz="1500" b="1">
                <a:solidFill>
                  <a:srgbClr val="007F87"/>
                </a:solidFill>
                <a:latin typeface="Arial"/>
                <a:ea typeface="Arial"/>
                <a:cs typeface="Arial"/>
              </a:defRPr>
            </a:lvl5pPr>
            <a:lvl6pPr>
              <a:defRPr sz="1500" b="1">
                <a:solidFill>
                  <a:srgbClr val="007F87"/>
                </a:solidFill>
                <a:latin typeface="Arial"/>
                <a:ea typeface="Arial"/>
                <a:cs typeface="Arial"/>
              </a:defRPr>
            </a:lvl6pPr>
            <a:lvl7pPr>
              <a:defRPr sz="1500" b="1">
                <a:solidFill>
                  <a:srgbClr val="007F87"/>
                </a:solidFill>
                <a:latin typeface="Arial"/>
                <a:ea typeface="Arial"/>
                <a:cs typeface="Arial"/>
              </a:defRPr>
            </a:lvl7pPr>
            <a:lvl8pPr>
              <a:defRPr sz="1500" b="1">
                <a:solidFill>
                  <a:srgbClr val="007F87"/>
                </a:solidFill>
                <a:latin typeface="Arial"/>
                <a:ea typeface="Arial"/>
                <a:cs typeface="Arial"/>
              </a:defRPr>
            </a:lvl8pPr>
            <a:lvl9pPr>
              <a:defRPr sz="1500" b="1">
                <a:solidFill>
                  <a:srgbClr val="007F87"/>
                </a:solidFill>
                <a:latin typeface="Arial"/>
                <a:ea typeface="Arial"/>
                <a:cs typeface="Arial"/>
              </a:defRPr>
            </a:lvl9pPr>
          </a:lstStyle>
          <a:p xmlns:a="http://schemas.openxmlformats.org/drawingml/2006/main">
            <a:pPr>
              <a:defRPr sz="1500" b="1">
                <a:solidFill>
                  <a:srgbClr val="007F87"/>
                </a:solidFill>
                <a:latin typeface="Arial"/>
                <a:ea typeface="Arial"/>
                <a:cs typeface="Arial"/>
              </a:defRPr>
            </a:pPr>
            <a:r>
              <a:rPr sz="1500" b="1">
                <a:solidFill>
                  <a:srgbClr val="007F87"/>
                </a:solidFill>
                <a:latin typeface="Arial"/>
                <a:ea typeface="Arial"/>
                <a:cs typeface="Arial"/>
              </a:rPr>
              <a:t>OFFLINE JUDGING</a:t>
            </a:r>
          </a:p>
        </p:txBody>
      </p:sp>
      <p:sp>
        <p:nvSpPr>
          <p:cNvPr id="8" name="">
            <a:extLst xmlns:a="http://schemas.openxmlformats.org/drawingml/2006/main">
              <a:ext uri="{FF2B5EF4-FFF2-40B4-BE49-F238E27FC236}">
                <a16:creationId xmlns:a16="http://schemas.microsoft.com/office/drawing/2014/main" id="{E95341D4-A11E-48F0-B0D0-B98AB4D96785}"/>
              </a:ext>
            </a:extLst>
          </p:cNvPr>
          <p:cNvSpPr>
            <a:spLocks xmlns:a="http://schemas.openxmlformats.org/drawingml/2006/main" noGrp="1"/>
          </p:cNvSpPr>
          <p:nvPr/>
        </p:nvSpPr>
        <p:spPr>
          <a:xfrm xmlns:a="http://schemas.openxmlformats.org/drawingml/2006/main">
            <a:off x="6667500" y="2686050"/>
            <a:ext cx="4857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236"/>
                </a:solidFill>
                <a:latin typeface="Arial"/>
                <a:ea typeface="Arial"/>
                <a:cs typeface="Arial"/>
              </a:defRPr>
            </a:defPPr>
            <a:lvl1pPr>
              <a:defRPr sz="2100" b="0">
                <a:solidFill>
                  <a:srgbClr val="102236"/>
                </a:solidFill>
                <a:latin typeface="Arial"/>
                <a:ea typeface="Arial"/>
                <a:cs typeface="Arial"/>
              </a:defRPr>
            </a:lvl1pPr>
            <a:lvl2pPr>
              <a:defRPr sz="2100" b="0">
                <a:solidFill>
                  <a:srgbClr val="102236"/>
                </a:solidFill>
                <a:latin typeface="Arial"/>
                <a:ea typeface="Arial"/>
                <a:cs typeface="Arial"/>
              </a:defRPr>
            </a:lvl2pPr>
            <a:lvl3pPr>
              <a:defRPr sz="2100" b="0">
                <a:solidFill>
                  <a:srgbClr val="102236"/>
                </a:solidFill>
                <a:latin typeface="Arial"/>
                <a:ea typeface="Arial"/>
                <a:cs typeface="Arial"/>
              </a:defRPr>
            </a:lvl3pPr>
            <a:lvl4pPr>
              <a:defRPr sz="2100" b="0">
                <a:solidFill>
                  <a:srgbClr val="102236"/>
                </a:solidFill>
                <a:latin typeface="Arial"/>
                <a:ea typeface="Arial"/>
                <a:cs typeface="Arial"/>
              </a:defRPr>
            </a:lvl4pPr>
            <a:lvl5pPr>
              <a:defRPr sz="2100" b="0">
                <a:solidFill>
                  <a:srgbClr val="102236"/>
                </a:solidFill>
                <a:latin typeface="Arial"/>
                <a:ea typeface="Arial"/>
                <a:cs typeface="Arial"/>
              </a:defRPr>
            </a:lvl5pPr>
            <a:lvl6pPr>
              <a:defRPr sz="2100" b="0">
                <a:solidFill>
                  <a:srgbClr val="102236"/>
                </a:solidFill>
                <a:latin typeface="Arial"/>
                <a:ea typeface="Arial"/>
                <a:cs typeface="Arial"/>
              </a:defRPr>
            </a:lvl6pPr>
            <a:lvl7pPr>
              <a:defRPr sz="2100" b="0">
                <a:solidFill>
                  <a:srgbClr val="102236"/>
                </a:solidFill>
                <a:latin typeface="Arial"/>
                <a:ea typeface="Arial"/>
                <a:cs typeface="Arial"/>
              </a:defRPr>
            </a:lvl7pPr>
            <a:lvl8pPr>
              <a:defRPr sz="2100" b="0">
                <a:solidFill>
                  <a:srgbClr val="102236"/>
                </a:solidFill>
                <a:latin typeface="Arial"/>
                <a:ea typeface="Arial"/>
                <a:cs typeface="Arial"/>
              </a:defRPr>
            </a:lvl8pPr>
            <a:lvl9pPr>
              <a:defRPr sz="2100" b="0">
                <a:solidFill>
                  <a:srgbClr val="102236"/>
                </a:solidFill>
                <a:latin typeface="Arial"/>
                <a:ea typeface="Arial"/>
                <a:cs typeface="Arial"/>
              </a:defRPr>
            </a:lvl9pPr>
          </a:lstStyle>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Three deterministic synthetic cases</a:t>
            </a:r>
          </a:p>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Blocked output, CPU pressure,</a:t>
            </a:r>
          </a:p>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insufficient evidence</a:t>
            </a:r>
          </a:p>
          <a:p xmlns:a="http://schemas.openxmlformats.org/drawingml/2006/main">
            <a:pPr>
              <a:defRPr sz="2100" b="0">
                <a:solidFill>
                  <a:srgbClr val="102236"/>
                </a:solidFill>
                <a:latin typeface="Arial"/>
                <a:ea typeface="Arial"/>
                <a:cs typeface="Arial"/>
              </a:defRPr>
            </a:pPr>
            <a:r>
              <a:rPr sz="2100" b="0">
                <a:solidFill>
                  <a:srgbClr val="102236"/>
                </a:solidFill>
                <a:latin typeface="Arial"/>
                <a:ea typeface="Arial"/>
                <a:cs typeface="Arial"/>
              </a:rPr>
              <a:t>Ten offline regression tests</a:t>
            </a:r>
          </a:p>
        </p:txBody>
      </p:sp>
      <p:sp>
        <p:nvSpPr>
          <p:cNvPr id="9" name="">
            <a:extLst xmlns:a="http://schemas.openxmlformats.org/drawingml/2006/main">
              <a:ext uri="{FF2B5EF4-FFF2-40B4-BE49-F238E27FC236}">
                <a16:creationId xmlns:a16="http://schemas.microsoft.com/office/drawing/2014/main" id="{1BF8DC84-1B5B-43F8-88C5-D1824D6E69D0}"/>
              </a:ext>
            </a:extLst>
          </p:cNvPr>
          <p:cNvSpPr>
            <a:spLocks xmlns:a="http://schemas.openxmlformats.org/drawingml/2006/main" noGrp="1"/>
          </p:cNvSpPr>
          <p:nvPr/>
        </p:nvSpPr>
        <p:spPr>
          <a:xfrm xmlns:a="http://schemas.openxmlformats.org/drawingml/2006/main">
            <a:off x="609600" y="54292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06477"/>
                </a:solidFill>
                <a:latin typeface="Arial"/>
                <a:ea typeface="Arial"/>
                <a:cs typeface="Arial"/>
              </a:defRPr>
            </a:defPPr>
            <a:lvl1pPr>
              <a:defRPr sz="1875" b="0">
                <a:solidFill>
                  <a:srgbClr val="506477"/>
                </a:solidFill>
                <a:latin typeface="Arial"/>
                <a:ea typeface="Arial"/>
                <a:cs typeface="Arial"/>
              </a:defRPr>
            </a:lvl1pPr>
            <a:lvl2pPr>
              <a:defRPr sz="1875" b="0">
                <a:solidFill>
                  <a:srgbClr val="506477"/>
                </a:solidFill>
                <a:latin typeface="Arial"/>
                <a:ea typeface="Arial"/>
                <a:cs typeface="Arial"/>
              </a:defRPr>
            </a:lvl2pPr>
            <a:lvl3pPr>
              <a:defRPr sz="1875" b="0">
                <a:solidFill>
                  <a:srgbClr val="506477"/>
                </a:solidFill>
                <a:latin typeface="Arial"/>
                <a:ea typeface="Arial"/>
                <a:cs typeface="Arial"/>
              </a:defRPr>
            </a:lvl3pPr>
            <a:lvl4pPr>
              <a:defRPr sz="1875" b="0">
                <a:solidFill>
                  <a:srgbClr val="506477"/>
                </a:solidFill>
                <a:latin typeface="Arial"/>
                <a:ea typeface="Arial"/>
                <a:cs typeface="Arial"/>
              </a:defRPr>
            </a:lvl4pPr>
            <a:lvl5pPr>
              <a:defRPr sz="1875" b="0">
                <a:solidFill>
                  <a:srgbClr val="506477"/>
                </a:solidFill>
                <a:latin typeface="Arial"/>
                <a:ea typeface="Arial"/>
                <a:cs typeface="Arial"/>
              </a:defRPr>
            </a:lvl5pPr>
            <a:lvl6pPr>
              <a:defRPr sz="1875" b="0">
                <a:solidFill>
                  <a:srgbClr val="506477"/>
                </a:solidFill>
                <a:latin typeface="Arial"/>
                <a:ea typeface="Arial"/>
                <a:cs typeface="Arial"/>
              </a:defRPr>
            </a:lvl6pPr>
            <a:lvl7pPr>
              <a:defRPr sz="1875" b="0">
                <a:solidFill>
                  <a:srgbClr val="506477"/>
                </a:solidFill>
                <a:latin typeface="Arial"/>
                <a:ea typeface="Arial"/>
                <a:cs typeface="Arial"/>
              </a:defRPr>
            </a:lvl7pPr>
            <a:lvl8pPr>
              <a:defRPr sz="1875" b="0">
                <a:solidFill>
                  <a:srgbClr val="506477"/>
                </a:solidFill>
                <a:latin typeface="Arial"/>
                <a:ea typeface="Arial"/>
                <a:cs typeface="Arial"/>
              </a:defRPr>
            </a:lvl8pPr>
            <a:lvl9pPr>
              <a:defRPr sz="1875" b="0">
                <a:solidFill>
                  <a:srgbClr val="506477"/>
                </a:solidFill>
                <a:latin typeface="Arial"/>
                <a:ea typeface="Arial"/>
                <a:cs typeface="Arial"/>
              </a:defRPr>
            </a:lvl9pPr>
          </a:lstStyle>
          <a:p xmlns:a="http://schemas.openxmlformats.org/drawingml/2006/main">
            <a:pPr>
              <a:defRPr sz="1875" b="0">
                <a:solidFill>
                  <a:srgbClr val="506477"/>
                </a:solidFill>
                <a:latin typeface="Arial"/>
                <a:ea typeface="Arial"/>
                <a:cs typeface="Arial"/>
              </a:defRPr>
            </a:pPr>
            <a:r>
              <a:rPr sz="1875" b="0">
                <a:solidFill>
                  <a:srgbClr val="506477"/>
                </a:solidFill>
                <a:latin typeface="Arial"/>
                <a:ea typeface="Arial"/>
                <a:cs typeface="Arial"/>
              </a:rPr>
              <a:t>Restart caveat: wait for Zetaris readiness, then restart receiver. Automatic recovery still needs improvement.</a:t>
            </a:r>
          </a:p>
        </p:txBody>
      </p:sp>
    </p:spTree>
    <p:extLst>
      <p:ext uri="{BB962C8B-B14F-4D97-AF65-F5344CB8AC3E}">
        <p14:creationId xmlns:p14="http://schemas.microsoft.com/office/powerpoint/2010/main" val="211571401"/>
      </p:ext>
    </p:extLst>
  </p:cSld>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91F0E2-4E3F-4079-A932-21C352232C72}"/>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DIFFERENTIATION AND VALUE</a:t>
            </a:r>
          </a:p>
        </p:txBody>
      </p:sp>
      <p:sp>
        <p:nvSpPr>
          <p:cNvPr id="2" name="">
            <a:extLst xmlns:a="http://schemas.openxmlformats.org/drawingml/2006/main">
              <a:ext uri="{FF2B5EF4-FFF2-40B4-BE49-F238E27FC236}">
                <a16:creationId xmlns:a16="http://schemas.microsoft.com/office/drawing/2014/main" id="{4086A7C2-5E43-4314-B8E4-7B7383F9DABC}"/>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A product hypothesis for operations teams</a:t>
            </a:r>
          </a:p>
        </p:txBody>
      </p:sp>
      <p:sp>
        <p:nvSpPr>
          <p:cNvPr id="3" name="">
            <a:extLst xmlns:a="http://schemas.openxmlformats.org/drawingml/2006/main">
              <a:ext uri="{FF2B5EF4-FFF2-40B4-BE49-F238E27FC236}">
                <a16:creationId xmlns:a16="http://schemas.microsoft.com/office/drawing/2014/main" id="{90EEF299-A558-42B6-A3BF-6CC8181D452B}"/>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608417ED-3994-4B9F-B31F-613EBD9CF21D}"/>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F47EDC7-D68E-472F-837F-ACB54BF508C7}"/>
              </a:ext>
            </a:extLst>
          </p:cNvPr>
          <p:cNvSpPr>
            <a:spLocks xmlns:a="http://schemas.openxmlformats.org/drawingml/2006/main" noGrp="1"/>
          </p:cNvSpPr>
          <p:nvPr/>
        </p:nvSpPr>
        <p:spPr>
          <a:xfrm xmlns:a="http://schemas.openxmlformats.org/drawingml/2006/main">
            <a:off x="609600" y="2095500"/>
            <a:ext cx="10763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02236"/>
                </a:solidFill>
                <a:latin typeface="Arial"/>
                <a:ea typeface="Arial"/>
                <a:cs typeface="Arial"/>
              </a:defRPr>
            </a:defPPr>
            <a:lvl1pPr>
              <a:defRPr sz="3000" b="1">
                <a:solidFill>
                  <a:srgbClr val="102236"/>
                </a:solidFill>
                <a:latin typeface="Arial"/>
                <a:ea typeface="Arial"/>
                <a:cs typeface="Arial"/>
              </a:defRPr>
            </a:lvl1pPr>
            <a:lvl2pPr>
              <a:defRPr sz="3000" b="1">
                <a:solidFill>
                  <a:srgbClr val="102236"/>
                </a:solidFill>
                <a:latin typeface="Arial"/>
                <a:ea typeface="Arial"/>
                <a:cs typeface="Arial"/>
              </a:defRPr>
            </a:lvl2pPr>
            <a:lvl3pPr>
              <a:defRPr sz="3000" b="1">
                <a:solidFill>
                  <a:srgbClr val="102236"/>
                </a:solidFill>
                <a:latin typeface="Arial"/>
                <a:ea typeface="Arial"/>
                <a:cs typeface="Arial"/>
              </a:defRPr>
            </a:lvl3pPr>
            <a:lvl4pPr>
              <a:defRPr sz="3000" b="1">
                <a:solidFill>
                  <a:srgbClr val="102236"/>
                </a:solidFill>
                <a:latin typeface="Arial"/>
                <a:ea typeface="Arial"/>
                <a:cs typeface="Arial"/>
              </a:defRPr>
            </a:lvl4pPr>
            <a:lvl5pPr>
              <a:defRPr sz="3000" b="1">
                <a:solidFill>
                  <a:srgbClr val="102236"/>
                </a:solidFill>
                <a:latin typeface="Arial"/>
                <a:ea typeface="Arial"/>
                <a:cs typeface="Arial"/>
              </a:defRPr>
            </a:lvl5pPr>
            <a:lvl6pPr>
              <a:defRPr sz="3000" b="1">
                <a:solidFill>
                  <a:srgbClr val="102236"/>
                </a:solidFill>
                <a:latin typeface="Arial"/>
                <a:ea typeface="Arial"/>
                <a:cs typeface="Arial"/>
              </a:defRPr>
            </a:lvl6pPr>
            <a:lvl7pPr>
              <a:defRPr sz="3000" b="1">
                <a:solidFill>
                  <a:srgbClr val="102236"/>
                </a:solidFill>
                <a:latin typeface="Arial"/>
                <a:ea typeface="Arial"/>
                <a:cs typeface="Arial"/>
              </a:defRPr>
            </a:lvl7pPr>
            <a:lvl8pPr>
              <a:defRPr sz="3000" b="1">
                <a:solidFill>
                  <a:srgbClr val="102236"/>
                </a:solidFill>
                <a:latin typeface="Arial"/>
                <a:ea typeface="Arial"/>
                <a:cs typeface="Arial"/>
              </a:defRPr>
            </a:lvl8pPr>
            <a:lvl9pPr>
              <a:defRPr sz="3000" b="1">
                <a:solidFill>
                  <a:srgbClr val="102236"/>
                </a:solidFill>
                <a:latin typeface="Arial"/>
                <a:ea typeface="Arial"/>
                <a:cs typeface="Arial"/>
              </a:defRPr>
            </a:lvl9pPr>
          </a:lstStyle>
          <a:p xmlns:a="http://schemas.openxmlformats.org/drawingml/2006/main">
            <a:pPr>
              <a:defRPr sz="3000" b="1">
                <a:solidFill>
                  <a:srgbClr val="102236"/>
                </a:solidFill>
                <a:latin typeface="Arial"/>
                <a:ea typeface="Arial"/>
                <a:cs typeface="Arial"/>
              </a:defRPr>
            </a:pPr>
            <a:r>
              <a:rPr sz="3000" b="1">
                <a:solidFill>
                  <a:srgbClr val="102236"/>
                </a:solidFill>
                <a:latin typeface="Arial"/>
                <a:ea typeface="Arial"/>
                <a:cs typeface="Arial"/>
              </a:rPr>
              <a:t>An incident record connects the alert,</a:t>
            </a:r>
          </a:p>
          <a:p xmlns:a="http://schemas.openxmlformats.org/drawingml/2006/main">
            <a:pPr>
              <a:defRPr sz="3000" b="1">
                <a:solidFill>
                  <a:srgbClr val="102236"/>
                </a:solidFill>
                <a:latin typeface="Arial"/>
                <a:ea typeface="Arial"/>
                <a:cs typeface="Arial"/>
              </a:defRPr>
            </a:pPr>
            <a:r>
              <a:rPr sz="3000" b="1">
                <a:solidFill>
                  <a:srgbClr val="102236"/>
                </a:solidFill>
                <a:latin typeface="Arial"/>
                <a:ea typeface="Arial"/>
                <a:cs typeface="Arial"/>
              </a:rPr>
              <a:t>source evidence and operator decision.</a:t>
            </a:r>
          </a:p>
        </p:txBody>
      </p:sp>
      <p:sp>
        <p:nvSpPr>
          <p:cNvPr id="6" name="">
            <a:extLst xmlns:a="http://schemas.openxmlformats.org/drawingml/2006/main">
              <a:ext uri="{FF2B5EF4-FFF2-40B4-BE49-F238E27FC236}">
                <a16:creationId xmlns:a16="http://schemas.microsoft.com/office/drawing/2014/main" id="{F874E17A-BC42-4134-9E15-903A74052A99}"/>
              </a:ext>
            </a:extLst>
          </p:cNvPr>
          <p:cNvSpPr>
            <a:spLocks xmlns:a="http://schemas.openxmlformats.org/drawingml/2006/main" noGrp="1"/>
          </p:cNvSpPr>
          <p:nvPr/>
        </p:nvSpPr>
        <p:spPr>
          <a:xfrm xmlns:a="http://schemas.openxmlformats.org/drawingml/2006/main">
            <a:off x="609600" y="37147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Product distinction</a:t>
            </a:r>
          </a:p>
        </p:txBody>
      </p:sp>
      <p:sp>
        <p:nvSpPr>
          <p:cNvPr id="7" name="">
            <a:extLst xmlns:a="http://schemas.openxmlformats.org/drawingml/2006/main">
              <a:ext uri="{FF2B5EF4-FFF2-40B4-BE49-F238E27FC236}">
                <a16:creationId xmlns:a16="http://schemas.microsoft.com/office/drawing/2014/main" id="{84B8936F-5595-493E-8DB1-C86571134DE7}"/>
              </a:ext>
            </a:extLst>
          </p:cNvPr>
          <p:cNvSpPr>
            <a:spLocks xmlns:a="http://schemas.openxmlformats.org/drawingml/2006/main" noGrp="1"/>
          </p:cNvSpPr>
          <p:nvPr/>
        </p:nvSpPr>
        <p:spPr>
          <a:xfrm xmlns:a="http://schemas.openxmlformats.org/drawingml/2006/main">
            <a:off x="3705225" y="3714750"/>
            <a:ext cx="7858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Deterministic alert lifecycle with a reviewed, cited explanation.</a:t>
            </a:r>
          </a:p>
        </p:txBody>
      </p:sp>
      <p:sp>
        <p:nvSpPr>
          <p:cNvPr id="8" name="">
            <a:extLst xmlns:a="http://schemas.openxmlformats.org/drawingml/2006/main">
              <a:ext uri="{FF2B5EF4-FFF2-40B4-BE49-F238E27FC236}">
                <a16:creationId xmlns:a16="http://schemas.microsoft.com/office/drawing/2014/main" id="{FAD22EB5-4DF6-407D-B0BF-3EB4CF13EFBF}"/>
              </a:ext>
            </a:extLst>
          </p:cNvPr>
          <p:cNvSpPr>
            <a:spLocks xmlns:a="http://schemas.openxmlformats.org/drawingml/2006/main" noGrp="1"/>
          </p:cNvSpPr>
          <p:nvPr/>
        </p:nvSpPr>
        <p:spPr>
          <a:xfrm xmlns:a="http://schemas.openxmlformats.org/drawingml/2006/main">
            <a:off x="609600" y="48387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F87"/>
                </a:solidFill>
                <a:latin typeface="Arial"/>
                <a:ea typeface="Arial"/>
                <a:cs typeface="Arial"/>
              </a:defRPr>
            </a:defPPr>
            <a:lvl1pPr>
              <a:defRPr sz="2175" b="1">
                <a:solidFill>
                  <a:srgbClr val="007F87"/>
                </a:solidFill>
                <a:latin typeface="Arial"/>
                <a:ea typeface="Arial"/>
                <a:cs typeface="Arial"/>
              </a:defRPr>
            </a:lvl1pPr>
            <a:lvl2pPr>
              <a:defRPr sz="2175" b="1">
                <a:solidFill>
                  <a:srgbClr val="007F87"/>
                </a:solidFill>
                <a:latin typeface="Arial"/>
                <a:ea typeface="Arial"/>
                <a:cs typeface="Arial"/>
              </a:defRPr>
            </a:lvl2pPr>
            <a:lvl3pPr>
              <a:defRPr sz="2175" b="1">
                <a:solidFill>
                  <a:srgbClr val="007F87"/>
                </a:solidFill>
                <a:latin typeface="Arial"/>
                <a:ea typeface="Arial"/>
                <a:cs typeface="Arial"/>
              </a:defRPr>
            </a:lvl3pPr>
            <a:lvl4pPr>
              <a:defRPr sz="2175" b="1">
                <a:solidFill>
                  <a:srgbClr val="007F87"/>
                </a:solidFill>
                <a:latin typeface="Arial"/>
                <a:ea typeface="Arial"/>
                <a:cs typeface="Arial"/>
              </a:defRPr>
            </a:lvl4pPr>
            <a:lvl5pPr>
              <a:defRPr sz="2175" b="1">
                <a:solidFill>
                  <a:srgbClr val="007F87"/>
                </a:solidFill>
                <a:latin typeface="Arial"/>
                <a:ea typeface="Arial"/>
                <a:cs typeface="Arial"/>
              </a:defRPr>
            </a:lvl5pPr>
            <a:lvl6pPr>
              <a:defRPr sz="2175" b="1">
                <a:solidFill>
                  <a:srgbClr val="007F87"/>
                </a:solidFill>
                <a:latin typeface="Arial"/>
                <a:ea typeface="Arial"/>
                <a:cs typeface="Arial"/>
              </a:defRPr>
            </a:lvl6pPr>
            <a:lvl7pPr>
              <a:defRPr sz="2175" b="1">
                <a:solidFill>
                  <a:srgbClr val="007F87"/>
                </a:solidFill>
                <a:latin typeface="Arial"/>
                <a:ea typeface="Arial"/>
                <a:cs typeface="Arial"/>
              </a:defRPr>
            </a:lvl7pPr>
            <a:lvl8pPr>
              <a:defRPr sz="2175" b="1">
                <a:solidFill>
                  <a:srgbClr val="007F87"/>
                </a:solidFill>
                <a:latin typeface="Arial"/>
                <a:ea typeface="Arial"/>
                <a:cs typeface="Arial"/>
              </a:defRPr>
            </a:lvl8pPr>
            <a:lvl9pPr>
              <a:defRPr sz="2175" b="1">
                <a:solidFill>
                  <a:srgbClr val="007F87"/>
                </a:solidFill>
                <a:latin typeface="Arial"/>
                <a:ea typeface="Arial"/>
                <a:cs typeface="Arial"/>
              </a:defRPr>
            </a:lvl9pPr>
          </a:lstStyle>
          <a:p xmlns:a="http://schemas.openxmlformats.org/drawingml/2006/main">
            <a:pPr>
              <a:defRPr sz="2175" b="1">
                <a:solidFill>
                  <a:srgbClr val="007F87"/>
                </a:solidFill>
                <a:latin typeface="Arial"/>
                <a:ea typeface="Arial"/>
                <a:cs typeface="Arial"/>
              </a:defRPr>
            </a:pPr>
            <a:r>
              <a:rPr sz="2175" b="1">
                <a:solidFill>
                  <a:srgbClr val="007F87"/>
                </a:solidFill>
                <a:latin typeface="Arial"/>
                <a:ea typeface="Arial"/>
                <a:cs typeface="Arial"/>
              </a:rPr>
              <a:t>Commercial hypothesis</a:t>
            </a:r>
          </a:p>
        </p:txBody>
      </p:sp>
      <p:sp>
        <p:nvSpPr>
          <p:cNvPr id="9" name="">
            <a:extLst xmlns:a="http://schemas.openxmlformats.org/drawingml/2006/main">
              <a:ext uri="{FF2B5EF4-FFF2-40B4-BE49-F238E27FC236}">
                <a16:creationId xmlns:a16="http://schemas.microsoft.com/office/drawing/2014/main" id="{155EA2F8-DD4B-4261-BB77-298BA599899F}"/>
              </a:ext>
            </a:extLst>
          </p:cNvPr>
          <p:cNvSpPr>
            <a:spLocks xmlns:a="http://schemas.openxmlformats.org/drawingml/2006/main" noGrp="1"/>
          </p:cNvSpPr>
          <p:nvPr/>
        </p:nvSpPr>
        <p:spPr>
          <a:xfrm xmlns:a="http://schemas.openxmlformats.org/drawingml/2006/main">
            <a:off x="3705225" y="4838700"/>
            <a:ext cx="7858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236"/>
                </a:solidFill>
                <a:latin typeface="Arial"/>
                <a:ea typeface="Arial"/>
                <a:cs typeface="Arial"/>
              </a:defRPr>
            </a:defPPr>
            <a:lvl1pPr>
              <a:defRPr sz="2025" b="0">
                <a:solidFill>
                  <a:srgbClr val="102236"/>
                </a:solidFill>
                <a:latin typeface="Arial"/>
                <a:ea typeface="Arial"/>
                <a:cs typeface="Arial"/>
              </a:defRPr>
            </a:lvl1pPr>
            <a:lvl2pPr>
              <a:defRPr sz="2025" b="0">
                <a:solidFill>
                  <a:srgbClr val="102236"/>
                </a:solidFill>
                <a:latin typeface="Arial"/>
                <a:ea typeface="Arial"/>
                <a:cs typeface="Arial"/>
              </a:defRPr>
            </a:lvl2pPr>
            <a:lvl3pPr>
              <a:defRPr sz="2025" b="0">
                <a:solidFill>
                  <a:srgbClr val="102236"/>
                </a:solidFill>
                <a:latin typeface="Arial"/>
                <a:ea typeface="Arial"/>
                <a:cs typeface="Arial"/>
              </a:defRPr>
            </a:lvl3pPr>
            <a:lvl4pPr>
              <a:defRPr sz="2025" b="0">
                <a:solidFill>
                  <a:srgbClr val="102236"/>
                </a:solidFill>
                <a:latin typeface="Arial"/>
                <a:ea typeface="Arial"/>
                <a:cs typeface="Arial"/>
              </a:defRPr>
            </a:lvl4pPr>
            <a:lvl5pPr>
              <a:defRPr sz="2025" b="0">
                <a:solidFill>
                  <a:srgbClr val="102236"/>
                </a:solidFill>
                <a:latin typeface="Arial"/>
                <a:ea typeface="Arial"/>
                <a:cs typeface="Arial"/>
              </a:defRPr>
            </a:lvl5pPr>
            <a:lvl6pPr>
              <a:defRPr sz="2025" b="0">
                <a:solidFill>
                  <a:srgbClr val="102236"/>
                </a:solidFill>
                <a:latin typeface="Arial"/>
                <a:ea typeface="Arial"/>
                <a:cs typeface="Arial"/>
              </a:defRPr>
            </a:lvl6pPr>
            <a:lvl7pPr>
              <a:defRPr sz="2025" b="0">
                <a:solidFill>
                  <a:srgbClr val="102236"/>
                </a:solidFill>
                <a:latin typeface="Arial"/>
                <a:ea typeface="Arial"/>
                <a:cs typeface="Arial"/>
              </a:defRPr>
            </a:lvl7pPr>
            <a:lvl8pPr>
              <a:defRPr sz="2025" b="0">
                <a:solidFill>
                  <a:srgbClr val="102236"/>
                </a:solidFill>
                <a:latin typeface="Arial"/>
                <a:ea typeface="Arial"/>
                <a:cs typeface="Arial"/>
              </a:defRPr>
            </a:lvl8pPr>
            <a:lvl9pPr>
              <a:defRPr sz="2025" b="0">
                <a:solidFill>
                  <a:srgbClr val="102236"/>
                </a:solidFill>
                <a:latin typeface="Arial"/>
                <a:ea typeface="Arial"/>
                <a:cs typeface="Arial"/>
              </a:defRPr>
            </a:lvl9pPr>
          </a:lstStyle>
          <a:p xmlns:a="http://schemas.openxmlformats.org/drawingml/2006/main">
            <a:pPr>
              <a:defRPr sz="2025" b="0">
                <a:solidFill>
                  <a:srgbClr val="102236"/>
                </a:solidFill>
                <a:latin typeface="Arial"/>
                <a:ea typeface="Arial"/>
                <a:cs typeface="Arial"/>
              </a:defRPr>
            </a:pPr>
            <a:r>
              <a:rPr sz="2025" b="0">
                <a:solidFill>
                  <a:srgbClr val="102236"/>
                </a:solidFill>
                <a:latin typeface="Arial"/>
                <a:ea typeface="Arial"/>
                <a:cs typeface="Arial"/>
              </a:rPr>
              <a:t>Hosted or self-managed monitoring for small Linux operations teams.</a:t>
            </a:r>
          </a:p>
        </p:txBody>
      </p:sp>
    </p:spTree>
    <p:extLst>
      <p:ext uri="{BB962C8B-B14F-4D97-AF65-F5344CB8AC3E}">
        <p14:creationId xmlns:p14="http://schemas.microsoft.com/office/powerpoint/2010/main" val="1774221108"/>
      </p:ext>
    </p:extLst>
  </p:cSld>
</p:sld>
</file>

<file path=ppt/slides/slide1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D1E1B8-1BA0-4B5B-B5BA-7070A2E24FBB}"/>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007F87"/>
                </a:solidFill>
                <a:latin typeface="Arial"/>
                <a:ea typeface="Arial"/>
                <a:cs typeface="Arial"/>
              </a:defRPr>
            </a:defPPr>
            <a:lvl1pPr>
              <a:defRPr sz="1275" b="1">
                <a:solidFill>
                  <a:srgbClr val="007F87"/>
                </a:solidFill>
                <a:latin typeface="Arial"/>
                <a:ea typeface="Arial"/>
                <a:cs typeface="Arial"/>
              </a:defRPr>
            </a:lvl1pPr>
            <a:lvl2pPr>
              <a:defRPr sz="1275" b="1">
                <a:solidFill>
                  <a:srgbClr val="007F87"/>
                </a:solidFill>
                <a:latin typeface="Arial"/>
                <a:ea typeface="Arial"/>
                <a:cs typeface="Arial"/>
              </a:defRPr>
            </a:lvl2pPr>
            <a:lvl3pPr>
              <a:defRPr sz="1275" b="1">
                <a:solidFill>
                  <a:srgbClr val="007F87"/>
                </a:solidFill>
                <a:latin typeface="Arial"/>
                <a:ea typeface="Arial"/>
                <a:cs typeface="Arial"/>
              </a:defRPr>
            </a:lvl3pPr>
            <a:lvl4pPr>
              <a:defRPr sz="1275" b="1">
                <a:solidFill>
                  <a:srgbClr val="007F87"/>
                </a:solidFill>
                <a:latin typeface="Arial"/>
                <a:ea typeface="Arial"/>
                <a:cs typeface="Arial"/>
              </a:defRPr>
            </a:lvl4pPr>
            <a:lvl5pPr>
              <a:defRPr sz="1275" b="1">
                <a:solidFill>
                  <a:srgbClr val="007F87"/>
                </a:solidFill>
                <a:latin typeface="Arial"/>
                <a:ea typeface="Arial"/>
                <a:cs typeface="Arial"/>
              </a:defRPr>
            </a:lvl5pPr>
            <a:lvl6pPr>
              <a:defRPr sz="1275" b="1">
                <a:solidFill>
                  <a:srgbClr val="007F87"/>
                </a:solidFill>
                <a:latin typeface="Arial"/>
                <a:ea typeface="Arial"/>
                <a:cs typeface="Arial"/>
              </a:defRPr>
            </a:lvl6pPr>
            <a:lvl7pPr>
              <a:defRPr sz="1275" b="1">
                <a:solidFill>
                  <a:srgbClr val="007F87"/>
                </a:solidFill>
                <a:latin typeface="Arial"/>
                <a:ea typeface="Arial"/>
                <a:cs typeface="Arial"/>
              </a:defRPr>
            </a:lvl7pPr>
            <a:lvl8pPr>
              <a:defRPr sz="1275" b="1">
                <a:solidFill>
                  <a:srgbClr val="007F87"/>
                </a:solidFill>
                <a:latin typeface="Arial"/>
                <a:ea typeface="Arial"/>
                <a:cs typeface="Arial"/>
              </a:defRPr>
            </a:lvl8pPr>
            <a:lvl9pPr>
              <a:defRPr sz="1275" b="1">
                <a:solidFill>
                  <a:srgbClr val="007F87"/>
                </a:solidFill>
                <a:latin typeface="Arial"/>
                <a:ea typeface="Arial"/>
                <a:cs typeface="Arial"/>
              </a:defRPr>
            </a:lvl9pPr>
          </a:lstStyle>
          <a:p xmlns:a="http://schemas.openxmlformats.org/drawingml/2006/main">
            <a:pPr>
              <a:defRPr sz="1275" b="1">
                <a:solidFill>
                  <a:srgbClr val="007F87"/>
                </a:solidFill>
                <a:latin typeface="Arial"/>
                <a:ea typeface="Arial"/>
                <a:cs typeface="Arial"/>
              </a:defRPr>
            </a:pPr>
            <a:r>
              <a:rPr sz="1275" b="1">
                <a:solidFill>
                  <a:srgbClr val="007F87"/>
                </a:solidFill>
                <a:latin typeface="Arial"/>
                <a:ea typeface="Arial"/>
                <a:cs typeface="Arial"/>
              </a:rPr>
              <a:t>ROADMAP</a:t>
            </a:r>
          </a:p>
        </p:txBody>
      </p:sp>
      <p:sp>
        <p:nvSpPr>
          <p:cNvPr id="2" name="">
            <a:extLst xmlns:a="http://schemas.openxmlformats.org/drawingml/2006/main">
              <a:ext uri="{FF2B5EF4-FFF2-40B4-BE49-F238E27FC236}">
                <a16:creationId xmlns:a16="http://schemas.microsoft.com/office/drawing/2014/main" id="{F481FE51-44A6-43D2-AB27-C6E61D5536FC}"/>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02236"/>
                </a:solidFill>
                <a:latin typeface="Arial"/>
                <a:ea typeface="Arial"/>
                <a:cs typeface="Arial"/>
              </a:defRPr>
            </a:defPPr>
            <a:lvl1pPr>
              <a:defRPr sz="3450" b="1">
                <a:solidFill>
                  <a:srgbClr val="102236"/>
                </a:solidFill>
                <a:latin typeface="Arial"/>
                <a:ea typeface="Arial"/>
                <a:cs typeface="Arial"/>
              </a:defRPr>
            </a:lvl1pPr>
            <a:lvl2pPr>
              <a:defRPr sz="3450" b="1">
                <a:solidFill>
                  <a:srgbClr val="102236"/>
                </a:solidFill>
                <a:latin typeface="Arial"/>
                <a:ea typeface="Arial"/>
                <a:cs typeface="Arial"/>
              </a:defRPr>
            </a:lvl2pPr>
            <a:lvl3pPr>
              <a:defRPr sz="3450" b="1">
                <a:solidFill>
                  <a:srgbClr val="102236"/>
                </a:solidFill>
                <a:latin typeface="Arial"/>
                <a:ea typeface="Arial"/>
                <a:cs typeface="Arial"/>
              </a:defRPr>
            </a:lvl3pPr>
            <a:lvl4pPr>
              <a:defRPr sz="3450" b="1">
                <a:solidFill>
                  <a:srgbClr val="102236"/>
                </a:solidFill>
                <a:latin typeface="Arial"/>
                <a:ea typeface="Arial"/>
                <a:cs typeface="Arial"/>
              </a:defRPr>
            </a:lvl4pPr>
            <a:lvl5pPr>
              <a:defRPr sz="3450" b="1">
                <a:solidFill>
                  <a:srgbClr val="102236"/>
                </a:solidFill>
                <a:latin typeface="Arial"/>
                <a:ea typeface="Arial"/>
                <a:cs typeface="Arial"/>
              </a:defRPr>
            </a:lvl5pPr>
            <a:lvl6pPr>
              <a:defRPr sz="3450" b="1">
                <a:solidFill>
                  <a:srgbClr val="102236"/>
                </a:solidFill>
                <a:latin typeface="Arial"/>
                <a:ea typeface="Arial"/>
                <a:cs typeface="Arial"/>
              </a:defRPr>
            </a:lvl6pPr>
            <a:lvl7pPr>
              <a:defRPr sz="3450" b="1">
                <a:solidFill>
                  <a:srgbClr val="102236"/>
                </a:solidFill>
                <a:latin typeface="Arial"/>
                <a:ea typeface="Arial"/>
                <a:cs typeface="Arial"/>
              </a:defRPr>
            </a:lvl7pPr>
            <a:lvl8pPr>
              <a:defRPr sz="3450" b="1">
                <a:solidFill>
                  <a:srgbClr val="102236"/>
                </a:solidFill>
                <a:latin typeface="Arial"/>
                <a:ea typeface="Arial"/>
                <a:cs typeface="Arial"/>
              </a:defRPr>
            </a:lvl8pPr>
            <a:lvl9pPr>
              <a:defRPr sz="3450" b="1">
                <a:solidFill>
                  <a:srgbClr val="102236"/>
                </a:solidFill>
                <a:latin typeface="Arial"/>
                <a:ea typeface="Arial"/>
                <a:cs typeface="Arial"/>
              </a:defRPr>
            </a:lvl9pPr>
          </a:lstStyle>
          <a:p xmlns:a="http://schemas.openxmlformats.org/drawingml/2006/main">
            <a:pPr>
              <a:defRPr sz="3450" b="1">
                <a:solidFill>
                  <a:srgbClr val="102236"/>
                </a:solidFill>
                <a:latin typeface="Arial"/>
                <a:ea typeface="Arial"/>
                <a:cs typeface="Arial"/>
              </a:defRPr>
            </a:pPr>
            <a:r>
              <a:rPr sz="3450" b="1">
                <a:solidFill>
                  <a:srgbClr val="102236"/>
                </a:solidFill>
                <a:latin typeface="Arial"/>
                <a:ea typeface="Arial"/>
                <a:cs typeface="Arial"/>
              </a:rPr>
              <a:t>Pilot priorities and current boundaries</a:t>
            </a:r>
          </a:p>
        </p:txBody>
      </p:sp>
      <p:sp>
        <p:nvSpPr>
          <p:cNvPr id="3" name="">
            <a:extLst xmlns:a="http://schemas.openxmlformats.org/drawingml/2006/main">
              <a:ext uri="{FF2B5EF4-FFF2-40B4-BE49-F238E27FC236}">
                <a16:creationId xmlns:a16="http://schemas.microsoft.com/office/drawing/2014/main" id="{2A932CE3-3A70-471B-912C-86267757081B}"/>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BE41892D-3988-4903-B912-9A8A2DDACFAE}"/>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477"/>
                </a:solidFill>
                <a:latin typeface="Arial"/>
                <a:ea typeface="Arial"/>
                <a:cs typeface="Arial"/>
              </a:defRPr>
            </a:defPPr>
            <a:lvl1pPr>
              <a:defRPr sz="1125" b="0">
                <a:solidFill>
                  <a:srgbClr val="506477"/>
                </a:solidFill>
                <a:latin typeface="Arial"/>
                <a:ea typeface="Arial"/>
                <a:cs typeface="Arial"/>
              </a:defRPr>
            </a:lvl1pPr>
            <a:lvl2pPr>
              <a:defRPr sz="1125" b="0">
                <a:solidFill>
                  <a:srgbClr val="506477"/>
                </a:solidFill>
                <a:latin typeface="Arial"/>
                <a:ea typeface="Arial"/>
                <a:cs typeface="Arial"/>
              </a:defRPr>
            </a:lvl2pPr>
            <a:lvl3pPr>
              <a:defRPr sz="1125" b="0">
                <a:solidFill>
                  <a:srgbClr val="506477"/>
                </a:solidFill>
                <a:latin typeface="Arial"/>
                <a:ea typeface="Arial"/>
                <a:cs typeface="Arial"/>
              </a:defRPr>
            </a:lvl3pPr>
            <a:lvl4pPr>
              <a:defRPr sz="1125" b="0">
                <a:solidFill>
                  <a:srgbClr val="506477"/>
                </a:solidFill>
                <a:latin typeface="Arial"/>
                <a:ea typeface="Arial"/>
                <a:cs typeface="Arial"/>
              </a:defRPr>
            </a:lvl4pPr>
            <a:lvl5pPr>
              <a:defRPr sz="1125" b="0">
                <a:solidFill>
                  <a:srgbClr val="506477"/>
                </a:solidFill>
                <a:latin typeface="Arial"/>
                <a:ea typeface="Arial"/>
                <a:cs typeface="Arial"/>
              </a:defRPr>
            </a:lvl5pPr>
            <a:lvl6pPr>
              <a:defRPr sz="1125" b="0">
                <a:solidFill>
                  <a:srgbClr val="506477"/>
                </a:solidFill>
                <a:latin typeface="Arial"/>
                <a:ea typeface="Arial"/>
                <a:cs typeface="Arial"/>
              </a:defRPr>
            </a:lvl6pPr>
            <a:lvl7pPr>
              <a:defRPr sz="1125" b="0">
                <a:solidFill>
                  <a:srgbClr val="506477"/>
                </a:solidFill>
                <a:latin typeface="Arial"/>
                <a:ea typeface="Arial"/>
                <a:cs typeface="Arial"/>
              </a:defRPr>
            </a:lvl7pPr>
            <a:lvl8pPr>
              <a:defRPr sz="1125" b="0">
                <a:solidFill>
                  <a:srgbClr val="506477"/>
                </a:solidFill>
                <a:latin typeface="Arial"/>
                <a:ea typeface="Arial"/>
                <a:cs typeface="Arial"/>
              </a:defRPr>
            </a:lvl8pPr>
            <a:lvl9pPr>
              <a:defRPr sz="1125" b="0">
                <a:solidFill>
                  <a:srgbClr val="506477"/>
                </a:solidFill>
                <a:latin typeface="Arial"/>
                <a:ea typeface="Arial"/>
                <a:cs typeface="Arial"/>
              </a:defRPr>
            </a:lvl9pPr>
          </a:lstStyle>
          <a:p xmlns:a="http://schemas.openxmlformats.org/drawingml/2006/main">
            <a:pPr>
              <a:defRPr sz="1125" b="0">
                <a:solidFill>
                  <a:srgbClr val="506477"/>
                </a:solidFill>
                <a:latin typeface="Arial"/>
                <a:ea typeface="Arial"/>
                <a:cs typeface="Arial"/>
              </a:defRPr>
            </a:pPr>
            <a:r>
              <a:rPr sz="1125" b="0">
                <a:solidFill>
                  <a:srgbClr val="506477"/>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032ED10-C768-4C28-8509-BD5928AC8F0A}"/>
              </a:ext>
            </a:extLst>
          </p:cNvPr>
          <p:cNvSpPr>
            <a:spLocks xmlns:a="http://schemas.openxmlformats.org/drawingml/2006/main" noGrp="1"/>
          </p:cNvSpPr>
          <p:nvPr/>
        </p:nvSpPr>
        <p:spPr>
          <a:xfrm xmlns:a="http://schemas.openxmlformats.org/drawingml/2006/main">
            <a:off x="609600" y="20955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07F87"/>
                </a:solidFill>
                <a:latin typeface="Arial"/>
                <a:ea typeface="Arial"/>
                <a:cs typeface="Arial"/>
              </a:defRPr>
            </a:defPPr>
            <a:lvl1pPr>
              <a:defRPr sz="1500" b="1">
                <a:solidFill>
                  <a:srgbClr val="007F87"/>
                </a:solidFill>
                <a:latin typeface="Arial"/>
                <a:ea typeface="Arial"/>
                <a:cs typeface="Arial"/>
              </a:defRPr>
            </a:lvl1pPr>
            <a:lvl2pPr>
              <a:defRPr sz="1500" b="1">
                <a:solidFill>
                  <a:srgbClr val="007F87"/>
                </a:solidFill>
                <a:latin typeface="Arial"/>
                <a:ea typeface="Arial"/>
                <a:cs typeface="Arial"/>
              </a:defRPr>
            </a:lvl2pPr>
            <a:lvl3pPr>
              <a:defRPr sz="1500" b="1">
                <a:solidFill>
                  <a:srgbClr val="007F87"/>
                </a:solidFill>
                <a:latin typeface="Arial"/>
                <a:ea typeface="Arial"/>
                <a:cs typeface="Arial"/>
              </a:defRPr>
            </a:lvl3pPr>
            <a:lvl4pPr>
              <a:defRPr sz="1500" b="1">
                <a:solidFill>
                  <a:srgbClr val="007F87"/>
                </a:solidFill>
                <a:latin typeface="Arial"/>
                <a:ea typeface="Arial"/>
                <a:cs typeface="Arial"/>
              </a:defRPr>
            </a:lvl4pPr>
            <a:lvl5pPr>
              <a:defRPr sz="1500" b="1">
                <a:solidFill>
                  <a:srgbClr val="007F87"/>
                </a:solidFill>
                <a:latin typeface="Arial"/>
                <a:ea typeface="Arial"/>
                <a:cs typeface="Arial"/>
              </a:defRPr>
            </a:lvl5pPr>
            <a:lvl6pPr>
              <a:defRPr sz="1500" b="1">
                <a:solidFill>
                  <a:srgbClr val="007F87"/>
                </a:solidFill>
                <a:latin typeface="Arial"/>
                <a:ea typeface="Arial"/>
                <a:cs typeface="Arial"/>
              </a:defRPr>
            </a:lvl6pPr>
            <a:lvl7pPr>
              <a:defRPr sz="1500" b="1">
                <a:solidFill>
                  <a:srgbClr val="007F87"/>
                </a:solidFill>
                <a:latin typeface="Arial"/>
                <a:ea typeface="Arial"/>
                <a:cs typeface="Arial"/>
              </a:defRPr>
            </a:lvl7pPr>
            <a:lvl8pPr>
              <a:defRPr sz="1500" b="1">
                <a:solidFill>
                  <a:srgbClr val="007F87"/>
                </a:solidFill>
                <a:latin typeface="Arial"/>
                <a:ea typeface="Arial"/>
                <a:cs typeface="Arial"/>
              </a:defRPr>
            </a:lvl8pPr>
            <a:lvl9pPr>
              <a:defRPr sz="1500" b="1">
                <a:solidFill>
                  <a:srgbClr val="007F87"/>
                </a:solidFill>
                <a:latin typeface="Arial"/>
                <a:ea typeface="Arial"/>
                <a:cs typeface="Arial"/>
              </a:defRPr>
            </a:lvl9pPr>
          </a:lstStyle>
          <a:p xmlns:a="http://schemas.openxmlformats.org/drawingml/2006/main">
            <a:pPr>
              <a:defRPr sz="1500" b="1">
                <a:solidFill>
                  <a:srgbClr val="007F87"/>
                </a:solidFill>
                <a:latin typeface="Arial"/>
                <a:ea typeface="Arial"/>
                <a:cs typeface="Arial"/>
              </a:defRPr>
            </a:pPr>
            <a:r>
              <a:rPr sz="1500" b="1">
                <a:solidFill>
                  <a:srgbClr val="007F87"/>
                </a:solidFill>
                <a:latin typeface="Arial"/>
                <a:ea typeface="Arial"/>
                <a:cs typeface="Arial"/>
              </a:rPr>
              <a:t>NEXT IMPLEMENTATION</a:t>
            </a:r>
          </a:p>
        </p:txBody>
      </p:sp>
      <p:sp>
        <p:nvSpPr>
          <p:cNvPr id="6" name="">
            <a:extLst xmlns:a="http://schemas.openxmlformats.org/drawingml/2006/main">
              <a:ext uri="{FF2B5EF4-FFF2-40B4-BE49-F238E27FC236}">
                <a16:creationId xmlns:a16="http://schemas.microsoft.com/office/drawing/2014/main" id="{291BFEA6-5AF3-4C75-A998-88E09AF2C614}"/>
              </a:ext>
            </a:extLst>
          </p:cNvPr>
          <p:cNvSpPr>
            <a:spLocks xmlns:a="http://schemas.openxmlformats.org/drawingml/2006/main" noGrp="1"/>
          </p:cNvSpPr>
          <p:nvPr/>
        </p:nvSpPr>
        <p:spPr>
          <a:xfrm xmlns:a="http://schemas.openxmlformats.org/drawingml/2006/main">
            <a:off x="609600" y="2714625"/>
            <a:ext cx="538162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236"/>
                </a:solidFill>
                <a:latin typeface="Arial"/>
                <a:ea typeface="Arial"/>
                <a:cs typeface="Arial"/>
              </a:defRPr>
            </a:defPPr>
            <a:lvl1pPr>
              <a:defRPr sz="2175" b="0">
                <a:solidFill>
                  <a:srgbClr val="102236"/>
                </a:solidFill>
                <a:latin typeface="Arial"/>
                <a:ea typeface="Arial"/>
                <a:cs typeface="Arial"/>
              </a:defRPr>
            </a:lvl1pPr>
            <a:lvl2pPr>
              <a:defRPr sz="2175" b="0">
                <a:solidFill>
                  <a:srgbClr val="102236"/>
                </a:solidFill>
                <a:latin typeface="Arial"/>
                <a:ea typeface="Arial"/>
                <a:cs typeface="Arial"/>
              </a:defRPr>
            </a:lvl2pPr>
            <a:lvl3pPr>
              <a:defRPr sz="2175" b="0">
                <a:solidFill>
                  <a:srgbClr val="102236"/>
                </a:solidFill>
                <a:latin typeface="Arial"/>
                <a:ea typeface="Arial"/>
                <a:cs typeface="Arial"/>
              </a:defRPr>
            </a:lvl3pPr>
            <a:lvl4pPr>
              <a:defRPr sz="2175" b="0">
                <a:solidFill>
                  <a:srgbClr val="102236"/>
                </a:solidFill>
                <a:latin typeface="Arial"/>
                <a:ea typeface="Arial"/>
                <a:cs typeface="Arial"/>
              </a:defRPr>
            </a:lvl4pPr>
            <a:lvl5pPr>
              <a:defRPr sz="2175" b="0">
                <a:solidFill>
                  <a:srgbClr val="102236"/>
                </a:solidFill>
                <a:latin typeface="Arial"/>
                <a:ea typeface="Arial"/>
                <a:cs typeface="Arial"/>
              </a:defRPr>
            </a:lvl5pPr>
            <a:lvl6pPr>
              <a:defRPr sz="2175" b="0">
                <a:solidFill>
                  <a:srgbClr val="102236"/>
                </a:solidFill>
                <a:latin typeface="Arial"/>
                <a:ea typeface="Arial"/>
                <a:cs typeface="Arial"/>
              </a:defRPr>
            </a:lvl6pPr>
            <a:lvl7pPr>
              <a:defRPr sz="2175" b="0">
                <a:solidFill>
                  <a:srgbClr val="102236"/>
                </a:solidFill>
                <a:latin typeface="Arial"/>
                <a:ea typeface="Arial"/>
                <a:cs typeface="Arial"/>
              </a:defRPr>
            </a:lvl7pPr>
            <a:lvl8pPr>
              <a:defRPr sz="2175" b="0">
                <a:solidFill>
                  <a:srgbClr val="102236"/>
                </a:solidFill>
                <a:latin typeface="Arial"/>
                <a:ea typeface="Arial"/>
                <a:cs typeface="Arial"/>
              </a:defRPr>
            </a:lvl8pPr>
            <a:lvl9pPr>
              <a:defRPr sz="2175" b="0">
                <a:solidFill>
                  <a:srgbClr val="102236"/>
                </a:solidFill>
                <a:latin typeface="Arial"/>
                <a:ea typeface="Arial"/>
                <a:cs typeface="Arial"/>
              </a:defRPr>
            </a:lvl9pPr>
          </a:lstStyle>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Automatic Zetaris reconnection</a:t>
            </a:r>
          </a:p>
          <a:p xmlns:a="http://schemas.openxmlformats.org/drawingml/2006/main">
            <a:r>
              <a:t/>
            </a:r>
          </a:p>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Independent evidence connector</a:t>
            </a:r>
          </a:p>
          <a:p xmlns:a="http://schemas.openxmlformats.org/drawingml/2006/main">
            <a:r>
              <a:t/>
            </a:r>
          </a:p>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Tenant isolation and load testing</a:t>
            </a:r>
          </a:p>
        </p:txBody>
      </p:sp>
      <p:sp>
        <p:nvSpPr>
          <p:cNvPr id="7" name="">
            <a:extLst xmlns:a="http://schemas.openxmlformats.org/drawingml/2006/main">
              <a:ext uri="{FF2B5EF4-FFF2-40B4-BE49-F238E27FC236}">
                <a16:creationId xmlns:a16="http://schemas.microsoft.com/office/drawing/2014/main" id="{FDE53D28-0EB3-4EBD-8EE0-A6E08E2C2118}"/>
              </a:ext>
            </a:extLst>
          </p:cNvPr>
          <p:cNvSpPr>
            <a:spLocks xmlns:a="http://schemas.openxmlformats.org/drawingml/2006/main" noGrp="1"/>
          </p:cNvSpPr>
          <p:nvPr/>
        </p:nvSpPr>
        <p:spPr>
          <a:xfrm xmlns:a="http://schemas.openxmlformats.org/drawingml/2006/main">
            <a:off x="6858000" y="20955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07F87"/>
                </a:solidFill>
                <a:latin typeface="Arial"/>
                <a:ea typeface="Arial"/>
                <a:cs typeface="Arial"/>
              </a:defRPr>
            </a:defPPr>
            <a:lvl1pPr>
              <a:defRPr sz="1500" b="1">
                <a:solidFill>
                  <a:srgbClr val="007F87"/>
                </a:solidFill>
                <a:latin typeface="Arial"/>
                <a:ea typeface="Arial"/>
                <a:cs typeface="Arial"/>
              </a:defRPr>
            </a:lvl1pPr>
            <a:lvl2pPr>
              <a:defRPr sz="1500" b="1">
                <a:solidFill>
                  <a:srgbClr val="007F87"/>
                </a:solidFill>
                <a:latin typeface="Arial"/>
                <a:ea typeface="Arial"/>
                <a:cs typeface="Arial"/>
              </a:defRPr>
            </a:lvl2pPr>
            <a:lvl3pPr>
              <a:defRPr sz="1500" b="1">
                <a:solidFill>
                  <a:srgbClr val="007F87"/>
                </a:solidFill>
                <a:latin typeface="Arial"/>
                <a:ea typeface="Arial"/>
                <a:cs typeface="Arial"/>
              </a:defRPr>
            </a:lvl3pPr>
            <a:lvl4pPr>
              <a:defRPr sz="1500" b="1">
                <a:solidFill>
                  <a:srgbClr val="007F87"/>
                </a:solidFill>
                <a:latin typeface="Arial"/>
                <a:ea typeface="Arial"/>
                <a:cs typeface="Arial"/>
              </a:defRPr>
            </a:lvl4pPr>
            <a:lvl5pPr>
              <a:defRPr sz="1500" b="1">
                <a:solidFill>
                  <a:srgbClr val="007F87"/>
                </a:solidFill>
                <a:latin typeface="Arial"/>
                <a:ea typeface="Arial"/>
                <a:cs typeface="Arial"/>
              </a:defRPr>
            </a:lvl5pPr>
            <a:lvl6pPr>
              <a:defRPr sz="1500" b="1">
                <a:solidFill>
                  <a:srgbClr val="007F87"/>
                </a:solidFill>
                <a:latin typeface="Arial"/>
                <a:ea typeface="Arial"/>
                <a:cs typeface="Arial"/>
              </a:defRPr>
            </a:lvl6pPr>
            <a:lvl7pPr>
              <a:defRPr sz="1500" b="1">
                <a:solidFill>
                  <a:srgbClr val="007F87"/>
                </a:solidFill>
                <a:latin typeface="Arial"/>
                <a:ea typeface="Arial"/>
                <a:cs typeface="Arial"/>
              </a:defRPr>
            </a:lvl7pPr>
            <a:lvl8pPr>
              <a:defRPr sz="1500" b="1">
                <a:solidFill>
                  <a:srgbClr val="007F87"/>
                </a:solidFill>
                <a:latin typeface="Arial"/>
                <a:ea typeface="Arial"/>
                <a:cs typeface="Arial"/>
              </a:defRPr>
            </a:lvl8pPr>
            <a:lvl9pPr>
              <a:defRPr sz="1500" b="1">
                <a:solidFill>
                  <a:srgbClr val="007F87"/>
                </a:solidFill>
                <a:latin typeface="Arial"/>
                <a:ea typeface="Arial"/>
                <a:cs typeface="Arial"/>
              </a:defRPr>
            </a:lvl9pPr>
          </a:lstStyle>
          <a:p xmlns:a="http://schemas.openxmlformats.org/drawingml/2006/main">
            <a:pPr>
              <a:defRPr sz="1500" b="1">
                <a:solidFill>
                  <a:srgbClr val="007F87"/>
                </a:solidFill>
                <a:latin typeface="Arial"/>
                <a:ea typeface="Arial"/>
                <a:cs typeface="Arial"/>
              </a:defRPr>
            </a:pPr>
            <a:r>
              <a:rPr sz="1500" b="1">
                <a:solidFill>
                  <a:srgbClr val="007F87"/>
                </a:solidFill>
                <a:latin typeface="Arial"/>
                <a:ea typeface="Arial"/>
                <a:cs typeface="Arial"/>
              </a:rPr>
              <a:t>PILOT MEASUREMENT</a:t>
            </a:r>
          </a:p>
        </p:txBody>
      </p:sp>
      <p:sp>
        <p:nvSpPr>
          <p:cNvPr id="8" name="">
            <a:extLst xmlns:a="http://schemas.openxmlformats.org/drawingml/2006/main">
              <a:ext uri="{FF2B5EF4-FFF2-40B4-BE49-F238E27FC236}">
                <a16:creationId xmlns:a16="http://schemas.microsoft.com/office/drawing/2014/main" id="{9009F22C-785E-424F-9248-3B98B37A29DE}"/>
              </a:ext>
            </a:extLst>
          </p:cNvPr>
          <p:cNvSpPr>
            <a:spLocks xmlns:a="http://schemas.openxmlformats.org/drawingml/2006/main" noGrp="1"/>
          </p:cNvSpPr>
          <p:nvPr/>
        </p:nvSpPr>
        <p:spPr>
          <a:xfrm xmlns:a="http://schemas.openxmlformats.org/drawingml/2006/main">
            <a:off x="6858000" y="2714625"/>
            <a:ext cx="4572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236"/>
                </a:solidFill>
                <a:latin typeface="Arial"/>
                <a:ea typeface="Arial"/>
                <a:cs typeface="Arial"/>
              </a:defRPr>
            </a:defPPr>
            <a:lvl1pPr>
              <a:defRPr sz="2175" b="0">
                <a:solidFill>
                  <a:srgbClr val="102236"/>
                </a:solidFill>
                <a:latin typeface="Arial"/>
                <a:ea typeface="Arial"/>
                <a:cs typeface="Arial"/>
              </a:defRPr>
            </a:lvl1pPr>
            <a:lvl2pPr>
              <a:defRPr sz="2175" b="0">
                <a:solidFill>
                  <a:srgbClr val="102236"/>
                </a:solidFill>
                <a:latin typeface="Arial"/>
                <a:ea typeface="Arial"/>
                <a:cs typeface="Arial"/>
              </a:defRPr>
            </a:lvl2pPr>
            <a:lvl3pPr>
              <a:defRPr sz="2175" b="0">
                <a:solidFill>
                  <a:srgbClr val="102236"/>
                </a:solidFill>
                <a:latin typeface="Arial"/>
                <a:ea typeface="Arial"/>
                <a:cs typeface="Arial"/>
              </a:defRPr>
            </a:lvl3pPr>
            <a:lvl4pPr>
              <a:defRPr sz="2175" b="0">
                <a:solidFill>
                  <a:srgbClr val="102236"/>
                </a:solidFill>
                <a:latin typeface="Arial"/>
                <a:ea typeface="Arial"/>
                <a:cs typeface="Arial"/>
              </a:defRPr>
            </a:lvl4pPr>
            <a:lvl5pPr>
              <a:defRPr sz="2175" b="0">
                <a:solidFill>
                  <a:srgbClr val="102236"/>
                </a:solidFill>
                <a:latin typeface="Arial"/>
                <a:ea typeface="Arial"/>
                <a:cs typeface="Arial"/>
              </a:defRPr>
            </a:lvl5pPr>
            <a:lvl6pPr>
              <a:defRPr sz="2175" b="0">
                <a:solidFill>
                  <a:srgbClr val="102236"/>
                </a:solidFill>
                <a:latin typeface="Arial"/>
                <a:ea typeface="Arial"/>
                <a:cs typeface="Arial"/>
              </a:defRPr>
            </a:lvl6pPr>
            <a:lvl7pPr>
              <a:defRPr sz="2175" b="0">
                <a:solidFill>
                  <a:srgbClr val="102236"/>
                </a:solidFill>
                <a:latin typeface="Arial"/>
                <a:ea typeface="Arial"/>
                <a:cs typeface="Arial"/>
              </a:defRPr>
            </a:lvl7pPr>
            <a:lvl8pPr>
              <a:defRPr sz="2175" b="0">
                <a:solidFill>
                  <a:srgbClr val="102236"/>
                </a:solidFill>
                <a:latin typeface="Arial"/>
                <a:ea typeface="Arial"/>
                <a:cs typeface="Arial"/>
              </a:defRPr>
            </a:lvl8pPr>
            <a:lvl9pPr>
              <a:defRPr sz="2175" b="0">
                <a:solidFill>
                  <a:srgbClr val="102236"/>
                </a:solidFill>
                <a:latin typeface="Arial"/>
                <a:ea typeface="Arial"/>
                <a:cs typeface="Arial"/>
              </a:defRPr>
            </a:lvl9pPr>
          </a:lstStyle>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Time to useful explanation</a:t>
            </a:r>
          </a:p>
          <a:p xmlns:a="http://schemas.openxmlformats.org/drawingml/2006/main">
            <a:r>
              <a:t/>
            </a:r>
          </a:p>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Unsupported-claim rate</a:t>
            </a:r>
          </a:p>
          <a:p xmlns:a="http://schemas.openxmlformats.org/drawingml/2006/main">
            <a:r>
              <a:t/>
            </a:r>
          </a:p>
          <a:p xmlns:a="http://schemas.openxmlformats.org/drawingml/2006/main">
            <a:pPr>
              <a:defRPr sz="2175" b="0">
                <a:solidFill>
                  <a:srgbClr val="102236"/>
                </a:solidFill>
                <a:latin typeface="Arial"/>
                <a:ea typeface="Arial"/>
                <a:cs typeface="Arial"/>
              </a:defRPr>
            </a:pPr>
            <a:r>
              <a:rPr sz="2175" b="0">
                <a:solidFill>
                  <a:srgbClr val="102236"/>
                </a:solidFill>
                <a:latin typeface="Arial"/>
                <a:ea typeface="Arial"/>
                <a:cs typeface="Arial"/>
              </a:rPr>
              <a:t>Notification delivery reliability</a:t>
            </a:r>
          </a:p>
        </p:txBody>
      </p:sp>
      <p:sp>
        <p:nvSpPr>
          <p:cNvPr id="9" name="">
            <a:extLst xmlns:a="http://schemas.openxmlformats.org/drawingml/2006/main">
              <a:ext uri="{FF2B5EF4-FFF2-40B4-BE49-F238E27FC236}">
                <a16:creationId xmlns:a16="http://schemas.microsoft.com/office/drawing/2014/main" id="{26A0C1DF-4399-4140-9858-D7080FFEFC78}"/>
              </a:ext>
            </a:extLst>
          </p:cNvPr>
          <p:cNvSpPr>
            <a:spLocks xmlns:a="http://schemas.openxmlformats.org/drawingml/2006/main" noGrp="1"/>
          </p:cNvSpPr>
          <p:nvPr/>
        </p:nvSpPr>
        <p:spPr>
          <a:xfrm xmlns:a="http://schemas.openxmlformats.org/drawingml/2006/main">
            <a:off x="609600" y="55626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06477"/>
                </a:solidFill>
                <a:latin typeface="Arial"/>
                <a:ea typeface="Arial"/>
                <a:cs typeface="Arial"/>
              </a:defRPr>
            </a:defPPr>
            <a:lvl1pPr>
              <a:defRPr sz="1875" b="0">
                <a:solidFill>
                  <a:srgbClr val="506477"/>
                </a:solidFill>
                <a:latin typeface="Arial"/>
                <a:ea typeface="Arial"/>
                <a:cs typeface="Arial"/>
              </a:defRPr>
            </a:lvl1pPr>
            <a:lvl2pPr>
              <a:defRPr sz="1875" b="0">
                <a:solidFill>
                  <a:srgbClr val="506477"/>
                </a:solidFill>
                <a:latin typeface="Arial"/>
                <a:ea typeface="Arial"/>
                <a:cs typeface="Arial"/>
              </a:defRPr>
            </a:lvl2pPr>
            <a:lvl3pPr>
              <a:defRPr sz="1875" b="0">
                <a:solidFill>
                  <a:srgbClr val="506477"/>
                </a:solidFill>
                <a:latin typeface="Arial"/>
                <a:ea typeface="Arial"/>
                <a:cs typeface="Arial"/>
              </a:defRPr>
            </a:lvl3pPr>
            <a:lvl4pPr>
              <a:defRPr sz="1875" b="0">
                <a:solidFill>
                  <a:srgbClr val="506477"/>
                </a:solidFill>
                <a:latin typeface="Arial"/>
                <a:ea typeface="Arial"/>
                <a:cs typeface="Arial"/>
              </a:defRPr>
            </a:lvl4pPr>
            <a:lvl5pPr>
              <a:defRPr sz="1875" b="0">
                <a:solidFill>
                  <a:srgbClr val="506477"/>
                </a:solidFill>
                <a:latin typeface="Arial"/>
                <a:ea typeface="Arial"/>
                <a:cs typeface="Arial"/>
              </a:defRPr>
            </a:lvl5pPr>
            <a:lvl6pPr>
              <a:defRPr sz="1875" b="0">
                <a:solidFill>
                  <a:srgbClr val="506477"/>
                </a:solidFill>
                <a:latin typeface="Arial"/>
                <a:ea typeface="Arial"/>
                <a:cs typeface="Arial"/>
              </a:defRPr>
            </a:lvl6pPr>
            <a:lvl7pPr>
              <a:defRPr sz="1875" b="0">
                <a:solidFill>
                  <a:srgbClr val="506477"/>
                </a:solidFill>
                <a:latin typeface="Arial"/>
                <a:ea typeface="Arial"/>
                <a:cs typeface="Arial"/>
              </a:defRPr>
            </a:lvl7pPr>
            <a:lvl8pPr>
              <a:defRPr sz="1875" b="0">
                <a:solidFill>
                  <a:srgbClr val="506477"/>
                </a:solidFill>
                <a:latin typeface="Arial"/>
                <a:ea typeface="Arial"/>
                <a:cs typeface="Arial"/>
              </a:defRPr>
            </a:lvl8pPr>
            <a:lvl9pPr>
              <a:defRPr sz="1875" b="0">
                <a:solidFill>
                  <a:srgbClr val="506477"/>
                </a:solidFill>
                <a:latin typeface="Arial"/>
                <a:ea typeface="Arial"/>
                <a:cs typeface="Arial"/>
              </a:defRPr>
            </a:lvl9pPr>
          </a:lstStyle>
          <a:p xmlns:a="http://schemas.openxmlformats.org/drawingml/2006/main">
            <a:pPr>
              <a:defRPr sz="1875" b="0">
                <a:solidFill>
                  <a:srgbClr val="506477"/>
                </a:solidFill>
                <a:latin typeface="Arial"/>
                <a:ea typeface="Arial"/>
                <a:cs typeface="Arial"/>
              </a:defRPr>
            </a:pPr>
            <a:r>
              <a:rPr sz="1875" b="0">
                <a:solidFill>
                  <a:srgbClr val="506477"/>
                </a:solidFill>
                <a:latin typeface="Arial"/>
                <a:ea typeface="Arial"/>
                <a:cs typeface="Arial"/>
              </a:rPr>
              <a:t>Current boundary: hypotheses for human review. No automatic repairs or established production scale.</a:t>
            </a:r>
          </a:p>
        </p:txBody>
      </p:sp>
    </p:spTree>
    <p:extLst>
      <p:ext uri="{BB962C8B-B14F-4D97-AF65-F5344CB8AC3E}">
        <p14:creationId xmlns:p14="http://schemas.microsoft.com/office/powerpoint/2010/main" val="695209880"/>
      </p:ext>
    </p:extLst>
  </p:cSld>
</p:sld>
</file>

<file path=ppt/slides/slide12.xml><?xml version="1.0" encoding="utf-8"?>
<p:sld xmlns:p="http://schemas.openxmlformats.org/presentationml/2006/main">
  <p:cSld>
    <p:bg>
      <p:bgPr>
        <a:solidFill xmlns:a="http://schemas.openxmlformats.org/drawingml/2006/main">
          <a:srgbClr val="1022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3E9D2B-3AFC-4B29-8631-7A98870730AD}"/>
              </a:ext>
            </a:extLst>
          </p:cNvPr>
          <p:cNvSpPr>
            <a:spLocks xmlns:a="http://schemas.openxmlformats.org/drawingml/2006/main" noGrp="1"/>
          </p:cNvSpPr>
          <p:nvPr/>
        </p:nvSpPr>
        <p:spPr>
          <a:xfrm xmlns:a="http://schemas.openxmlformats.org/drawingml/2006/main">
            <a:off x="609600" y="4000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69D9DF"/>
                </a:solidFill>
                <a:latin typeface="Arial"/>
                <a:ea typeface="Arial"/>
                <a:cs typeface="Arial"/>
              </a:defRPr>
            </a:defPPr>
            <a:lvl1pPr>
              <a:defRPr sz="1275" b="1">
                <a:solidFill>
                  <a:srgbClr val="69D9DF"/>
                </a:solidFill>
                <a:latin typeface="Arial"/>
                <a:ea typeface="Arial"/>
                <a:cs typeface="Arial"/>
              </a:defRPr>
            </a:lvl1pPr>
            <a:lvl2pPr>
              <a:defRPr sz="1275" b="1">
                <a:solidFill>
                  <a:srgbClr val="69D9DF"/>
                </a:solidFill>
                <a:latin typeface="Arial"/>
                <a:ea typeface="Arial"/>
                <a:cs typeface="Arial"/>
              </a:defRPr>
            </a:lvl2pPr>
            <a:lvl3pPr>
              <a:defRPr sz="1275" b="1">
                <a:solidFill>
                  <a:srgbClr val="69D9DF"/>
                </a:solidFill>
                <a:latin typeface="Arial"/>
                <a:ea typeface="Arial"/>
                <a:cs typeface="Arial"/>
              </a:defRPr>
            </a:lvl3pPr>
            <a:lvl4pPr>
              <a:defRPr sz="1275" b="1">
                <a:solidFill>
                  <a:srgbClr val="69D9DF"/>
                </a:solidFill>
                <a:latin typeface="Arial"/>
                <a:ea typeface="Arial"/>
                <a:cs typeface="Arial"/>
              </a:defRPr>
            </a:lvl4pPr>
            <a:lvl5pPr>
              <a:defRPr sz="1275" b="1">
                <a:solidFill>
                  <a:srgbClr val="69D9DF"/>
                </a:solidFill>
                <a:latin typeface="Arial"/>
                <a:ea typeface="Arial"/>
                <a:cs typeface="Arial"/>
              </a:defRPr>
            </a:lvl5pPr>
            <a:lvl6pPr>
              <a:defRPr sz="1275" b="1">
                <a:solidFill>
                  <a:srgbClr val="69D9DF"/>
                </a:solidFill>
                <a:latin typeface="Arial"/>
                <a:ea typeface="Arial"/>
                <a:cs typeface="Arial"/>
              </a:defRPr>
            </a:lvl6pPr>
            <a:lvl7pPr>
              <a:defRPr sz="1275" b="1">
                <a:solidFill>
                  <a:srgbClr val="69D9DF"/>
                </a:solidFill>
                <a:latin typeface="Arial"/>
                <a:ea typeface="Arial"/>
                <a:cs typeface="Arial"/>
              </a:defRPr>
            </a:lvl7pPr>
            <a:lvl8pPr>
              <a:defRPr sz="1275" b="1">
                <a:solidFill>
                  <a:srgbClr val="69D9DF"/>
                </a:solidFill>
                <a:latin typeface="Arial"/>
                <a:ea typeface="Arial"/>
                <a:cs typeface="Arial"/>
              </a:defRPr>
            </a:lvl8pPr>
            <a:lvl9pPr>
              <a:defRPr sz="1275" b="1">
                <a:solidFill>
                  <a:srgbClr val="69D9DF"/>
                </a:solidFill>
                <a:latin typeface="Arial"/>
                <a:ea typeface="Arial"/>
                <a:cs typeface="Arial"/>
              </a:defRPr>
            </a:lvl9pPr>
          </a:lstStyle>
          <a:p xmlns:a="http://schemas.openxmlformats.org/drawingml/2006/main">
            <a:pPr>
              <a:defRPr sz="1275" b="1">
                <a:solidFill>
                  <a:srgbClr val="69D9DF"/>
                </a:solidFill>
                <a:latin typeface="Arial"/>
                <a:ea typeface="Arial"/>
                <a:cs typeface="Arial"/>
              </a:defRPr>
            </a:pPr>
            <a:r>
              <a:rPr sz="1275" b="1">
                <a:solidFill>
                  <a:srgbClr val="69D9DF"/>
                </a:solidFill>
                <a:latin typeface="Arial"/>
                <a:ea typeface="Arial"/>
                <a:cs typeface="Arial"/>
              </a:rPr>
              <a:t>SOURCE AND JUDGING PATH</a:t>
            </a:r>
          </a:p>
        </p:txBody>
      </p:sp>
      <p:sp>
        <p:nvSpPr>
          <p:cNvPr id="2" name="">
            <a:extLst xmlns:a="http://schemas.openxmlformats.org/drawingml/2006/main">
              <a:ext uri="{FF2B5EF4-FFF2-40B4-BE49-F238E27FC236}">
                <a16:creationId xmlns:a16="http://schemas.microsoft.com/office/drawing/2014/main" id="{4310E00D-84DC-4C3C-A80E-E8A1BA0735FD}"/>
              </a:ext>
            </a:extLst>
          </p:cNvPr>
          <p:cNvSpPr>
            <a:spLocks xmlns:a="http://schemas.openxmlformats.org/drawingml/2006/main" noGrp="1"/>
          </p:cNvSpPr>
          <p:nvPr/>
        </p:nvSpPr>
        <p:spPr>
          <a:xfrm xmlns:a="http://schemas.openxmlformats.org/drawingml/2006/main">
            <a:off x="609600" y="8953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reproducible incident, ready for review</a:t>
            </a:r>
          </a:p>
        </p:txBody>
      </p:sp>
      <p:sp>
        <p:nvSpPr>
          <p:cNvPr id="3" name="">
            <a:extLst xmlns:a="http://schemas.openxmlformats.org/drawingml/2006/main">
              <a:ext uri="{FF2B5EF4-FFF2-40B4-BE49-F238E27FC236}">
                <a16:creationId xmlns:a16="http://schemas.microsoft.com/office/drawing/2014/main" id="{5A31C6D1-19E2-4EB1-B99F-614D6FC88F57}"/>
              </a:ext>
            </a:extLst>
          </p:cNvPr>
          <p:cNvSpPr>
            <a:spLocks xmlns:a="http://schemas.openxmlformats.org/drawingml/2006/main" noGrp="1"/>
          </p:cNvSpPr>
          <p:nvPr/>
        </p:nvSpPr>
        <p:spPr>
          <a:xfrm xmlns:a="http://schemas.openxmlformats.org/drawingml/2006/main">
            <a:off x="60960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B8CFDC"/>
                </a:solidFill>
                <a:latin typeface="Arial"/>
                <a:ea typeface="Arial"/>
                <a:cs typeface="Arial"/>
              </a:defRPr>
            </a:defPPr>
            <a:lvl1pPr>
              <a:defRPr sz="1125" b="0">
                <a:solidFill>
                  <a:srgbClr val="B8CFDC"/>
                </a:solidFill>
                <a:latin typeface="Arial"/>
                <a:ea typeface="Arial"/>
                <a:cs typeface="Arial"/>
              </a:defRPr>
            </a:lvl1pPr>
            <a:lvl2pPr>
              <a:defRPr sz="1125" b="0">
                <a:solidFill>
                  <a:srgbClr val="B8CFDC"/>
                </a:solidFill>
                <a:latin typeface="Arial"/>
                <a:ea typeface="Arial"/>
                <a:cs typeface="Arial"/>
              </a:defRPr>
            </a:lvl2pPr>
            <a:lvl3pPr>
              <a:defRPr sz="1125" b="0">
                <a:solidFill>
                  <a:srgbClr val="B8CFDC"/>
                </a:solidFill>
                <a:latin typeface="Arial"/>
                <a:ea typeface="Arial"/>
                <a:cs typeface="Arial"/>
              </a:defRPr>
            </a:lvl3pPr>
            <a:lvl4pPr>
              <a:defRPr sz="1125" b="0">
                <a:solidFill>
                  <a:srgbClr val="B8CFDC"/>
                </a:solidFill>
                <a:latin typeface="Arial"/>
                <a:ea typeface="Arial"/>
                <a:cs typeface="Arial"/>
              </a:defRPr>
            </a:lvl4pPr>
            <a:lvl5pPr>
              <a:defRPr sz="1125" b="0">
                <a:solidFill>
                  <a:srgbClr val="B8CFDC"/>
                </a:solidFill>
                <a:latin typeface="Arial"/>
                <a:ea typeface="Arial"/>
                <a:cs typeface="Arial"/>
              </a:defRPr>
            </a:lvl5pPr>
            <a:lvl6pPr>
              <a:defRPr sz="1125" b="0">
                <a:solidFill>
                  <a:srgbClr val="B8CFDC"/>
                </a:solidFill>
                <a:latin typeface="Arial"/>
                <a:ea typeface="Arial"/>
                <a:cs typeface="Arial"/>
              </a:defRPr>
            </a:lvl6pPr>
            <a:lvl7pPr>
              <a:defRPr sz="1125" b="0">
                <a:solidFill>
                  <a:srgbClr val="B8CFDC"/>
                </a:solidFill>
                <a:latin typeface="Arial"/>
                <a:ea typeface="Arial"/>
                <a:cs typeface="Arial"/>
              </a:defRPr>
            </a:lvl7pPr>
            <a:lvl8pPr>
              <a:defRPr sz="1125" b="0">
                <a:solidFill>
                  <a:srgbClr val="B8CFDC"/>
                </a:solidFill>
                <a:latin typeface="Arial"/>
                <a:ea typeface="Arial"/>
                <a:cs typeface="Arial"/>
              </a:defRPr>
            </a:lvl8pPr>
            <a:lvl9pPr>
              <a:defRPr sz="1125" b="0">
                <a:solidFill>
                  <a:srgbClr val="B8CFDC"/>
                </a:solidFill>
                <a:latin typeface="Arial"/>
                <a:ea typeface="Arial"/>
                <a:cs typeface="Arial"/>
              </a:defRPr>
            </a:lvl9pPr>
          </a:lstStyle>
          <a:p xmlns:a="http://schemas.openxmlformats.org/drawingml/2006/main">
            <a:pPr>
              <a:defRPr sz="1125" b="0">
                <a:solidFill>
                  <a:srgbClr val="B8CFDC"/>
                </a:solidFill>
                <a:latin typeface="Arial"/>
                <a:ea typeface="Arial"/>
                <a:cs typeface="Arial"/>
              </a:defRPr>
            </a:pPr>
            <a:r>
              <a:rPr sz="1125" b="0">
                <a:solidFill>
                  <a:srgbClr val="B8CFDC"/>
                </a:solidFill>
                <a:latin typeface="Arial"/>
                <a:ea typeface="Arial"/>
                <a:cs typeface="Arial"/>
              </a:rPr>
              <a:t>OpenOps Evidence</a:t>
            </a:r>
          </a:p>
        </p:txBody>
      </p:sp>
      <p:sp>
        <p:nvSpPr>
          <p:cNvPr id="4" name="">
            <a:extLst xmlns:a="http://schemas.openxmlformats.org/drawingml/2006/main">
              <a:ext uri="{FF2B5EF4-FFF2-40B4-BE49-F238E27FC236}">
                <a16:creationId xmlns:a16="http://schemas.microsoft.com/office/drawing/2014/main" id="{E5C1820C-997A-4A68-94A6-ADB1AF6D7628}"/>
              </a:ext>
            </a:extLst>
          </p:cNvPr>
          <p:cNvSpPr>
            <a:spLocks xmlns:a="http://schemas.openxmlformats.org/drawingml/2006/main" noGrp="1"/>
          </p:cNvSpPr>
          <p:nvPr/>
        </p:nvSpPr>
        <p:spPr>
          <a:xfrm xmlns:a="http://schemas.openxmlformats.org/drawingml/2006/main">
            <a:off x="10953750" y="641985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B8CFDC"/>
                </a:solidFill>
                <a:latin typeface="Arial"/>
                <a:ea typeface="Arial"/>
                <a:cs typeface="Arial"/>
              </a:defRPr>
            </a:defPPr>
            <a:lvl1pPr>
              <a:defRPr sz="1125" b="0">
                <a:solidFill>
                  <a:srgbClr val="B8CFDC"/>
                </a:solidFill>
                <a:latin typeface="Arial"/>
                <a:ea typeface="Arial"/>
                <a:cs typeface="Arial"/>
              </a:defRPr>
            </a:lvl1pPr>
            <a:lvl2pPr>
              <a:defRPr sz="1125" b="0">
                <a:solidFill>
                  <a:srgbClr val="B8CFDC"/>
                </a:solidFill>
                <a:latin typeface="Arial"/>
                <a:ea typeface="Arial"/>
                <a:cs typeface="Arial"/>
              </a:defRPr>
            </a:lvl2pPr>
            <a:lvl3pPr>
              <a:defRPr sz="1125" b="0">
                <a:solidFill>
                  <a:srgbClr val="B8CFDC"/>
                </a:solidFill>
                <a:latin typeface="Arial"/>
                <a:ea typeface="Arial"/>
                <a:cs typeface="Arial"/>
              </a:defRPr>
            </a:lvl3pPr>
            <a:lvl4pPr>
              <a:defRPr sz="1125" b="0">
                <a:solidFill>
                  <a:srgbClr val="B8CFDC"/>
                </a:solidFill>
                <a:latin typeface="Arial"/>
                <a:ea typeface="Arial"/>
                <a:cs typeface="Arial"/>
              </a:defRPr>
            </a:lvl4pPr>
            <a:lvl5pPr>
              <a:defRPr sz="1125" b="0">
                <a:solidFill>
                  <a:srgbClr val="B8CFDC"/>
                </a:solidFill>
                <a:latin typeface="Arial"/>
                <a:ea typeface="Arial"/>
                <a:cs typeface="Arial"/>
              </a:defRPr>
            </a:lvl5pPr>
            <a:lvl6pPr>
              <a:defRPr sz="1125" b="0">
                <a:solidFill>
                  <a:srgbClr val="B8CFDC"/>
                </a:solidFill>
                <a:latin typeface="Arial"/>
                <a:ea typeface="Arial"/>
                <a:cs typeface="Arial"/>
              </a:defRPr>
            </a:lvl6pPr>
            <a:lvl7pPr>
              <a:defRPr sz="1125" b="0">
                <a:solidFill>
                  <a:srgbClr val="B8CFDC"/>
                </a:solidFill>
                <a:latin typeface="Arial"/>
                <a:ea typeface="Arial"/>
                <a:cs typeface="Arial"/>
              </a:defRPr>
            </a:lvl7pPr>
            <a:lvl8pPr>
              <a:defRPr sz="1125" b="0">
                <a:solidFill>
                  <a:srgbClr val="B8CFDC"/>
                </a:solidFill>
                <a:latin typeface="Arial"/>
                <a:ea typeface="Arial"/>
                <a:cs typeface="Arial"/>
              </a:defRPr>
            </a:lvl8pPr>
            <a:lvl9pPr>
              <a:defRPr sz="1125" b="0">
                <a:solidFill>
                  <a:srgbClr val="B8CFDC"/>
                </a:solidFill>
                <a:latin typeface="Arial"/>
                <a:ea typeface="Arial"/>
                <a:cs typeface="Arial"/>
              </a:defRPr>
            </a:lvl9pPr>
          </a:lstStyle>
          <a:p xmlns:a="http://schemas.openxmlformats.org/drawingml/2006/main">
            <a:pPr>
              <a:defRPr sz="1125" b="0">
                <a:solidFill>
                  <a:srgbClr val="B8CFDC"/>
                </a:solidFill>
                <a:latin typeface="Arial"/>
                <a:ea typeface="Arial"/>
                <a:cs typeface="Arial"/>
              </a:defRPr>
            </a:pPr>
            <a:r>
              <a:rPr sz="1125" b="0">
                <a:solidFill>
                  <a:srgbClr val="B8CFDC"/>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B8B10D1-CCAC-454B-8C7A-01E553CE0777}"/>
              </a:ext>
            </a:extLst>
          </p:cNvPr>
          <p:cNvSpPr>
            <a:spLocks xmlns:a="http://schemas.openxmlformats.org/drawingml/2006/main" noGrp="1"/>
          </p:cNvSpPr>
          <p:nvPr/>
        </p:nvSpPr>
        <p:spPr>
          <a:xfrm xmlns:a="http://schemas.openxmlformats.org/drawingml/2006/main">
            <a:off x="609600" y="21907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69D9DF"/>
                </a:solidFill>
                <a:latin typeface="Arial"/>
                <a:ea typeface="Arial"/>
                <a:cs typeface="Arial"/>
              </a:defRPr>
            </a:defPPr>
            <a:lvl1pPr>
              <a:defRPr sz="3150" b="1">
                <a:solidFill>
                  <a:srgbClr val="69D9DF"/>
                </a:solidFill>
                <a:latin typeface="Arial"/>
                <a:ea typeface="Arial"/>
                <a:cs typeface="Arial"/>
              </a:defRPr>
            </a:lvl1pPr>
            <a:lvl2pPr>
              <a:defRPr sz="3150" b="1">
                <a:solidFill>
                  <a:srgbClr val="69D9DF"/>
                </a:solidFill>
                <a:latin typeface="Arial"/>
                <a:ea typeface="Arial"/>
                <a:cs typeface="Arial"/>
              </a:defRPr>
            </a:lvl2pPr>
            <a:lvl3pPr>
              <a:defRPr sz="3150" b="1">
                <a:solidFill>
                  <a:srgbClr val="69D9DF"/>
                </a:solidFill>
                <a:latin typeface="Arial"/>
                <a:ea typeface="Arial"/>
                <a:cs typeface="Arial"/>
              </a:defRPr>
            </a:lvl3pPr>
            <a:lvl4pPr>
              <a:defRPr sz="3150" b="1">
                <a:solidFill>
                  <a:srgbClr val="69D9DF"/>
                </a:solidFill>
                <a:latin typeface="Arial"/>
                <a:ea typeface="Arial"/>
                <a:cs typeface="Arial"/>
              </a:defRPr>
            </a:lvl4pPr>
            <a:lvl5pPr>
              <a:defRPr sz="3150" b="1">
                <a:solidFill>
                  <a:srgbClr val="69D9DF"/>
                </a:solidFill>
                <a:latin typeface="Arial"/>
                <a:ea typeface="Arial"/>
                <a:cs typeface="Arial"/>
              </a:defRPr>
            </a:lvl5pPr>
            <a:lvl6pPr>
              <a:defRPr sz="3150" b="1">
                <a:solidFill>
                  <a:srgbClr val="69D9DF"/>
                </a:solidFill>
                <a:latin typeface="Arial"/>
                <a:ea typeface="Arial"/>
                <a:cs typeface="Arial"/>
              </a:defRPr>
            </a:lvl6pPr>
            <a:lvl7pPr>
              <a:defRPr sz="3150" b="1">
                <a:solidFill>
                  <a:srgbClr val="69D9DF"/>
                </a:solidFill>
                <a:latin typeface="Arial"/>
                <a:ea typeface="Arial"/>
                <a:cs typeface="Arial"/>
              </a:defRPr>
            </a:lvl7pPr>
            <a:lvl8pPr>
              <a:defRPr sz="3150" b="1">
                <a:solidFill>
                  <a:srgbClr val="69D9DF"/>
                </a:solidFill>
                <a:latin typeface="Arial"/>
                <a:ea typeface="Arial"/>
                <a:cs typeface="Arial"/>
              </a:defRPr>
            </a:lvl8pPr>
            <a:lvl9pPr>
              <a:defRPr sz="3150" b="1">
                <a:solidFill>
                  <a:srgbClr val="69D9DF"/>
                </a:solidFill>
                <a:latin typeface="Arial"/>
                <a:ea typeface="Arial"/>
                <a:cs typeface="Arial"/>
              </a:defRPr>
            </a:lvl9pPr>
          </a:lstStyle>
          <a:p xmlns:a="http://schemas.openxmlformats.org/drawingml/2006/main">
            <a:pPr>
              <a:defRPr sz="3150" b="1">
                <a:solidFill>
                  <a:srgbClr val="69D9DF"/>
                </a:solidFill>
                <a:latin typeface="Arial"/>
                <a:ea typeface="Arial"/>
                <a:cs typeface="Arial"/>
              </a:defRPr>
            </a:pPr>
            <a:r>
              <a:rPr sz="3150" b="1">
                <a:solidFill>
                  <a:srgbClr val="69D9DF"/>
                </a:solidFill>
                <a:latin typeface="Arial"/>
                <a:ea typeface="Arial"/>
                <a:cs typeface="Arial"/>
              </a:rPr>
              <a:t>github.com/moriva01/openops_repo</a:t>
            </a:r>
          </a:p>
        </p:txBody>
      </p:sp>
      <p:sp>
        <p:nvSpPr>
          <p:cNvPr id="6" name="">
            <a:extLst xmlns:a="http://schemas.openxmlformats.org/drawingml/2006/main">
              <a:ext uri="{FF2B5EF4-FFF2-40B4-BE49-F238E27FC236}">
                <a16:creationId xmlns:a16="http://schemas.microsoft.com/office/drawing/2014/main" id="{31982D2E-8182-4591-8E24-27AB6B9CFE90}"/>
              </a:ext>
            </a:extLst>
          </p:cNvPr>
          <p:cNvSpPr>
            <a:spLocks xmlns:a="http://schemas.openxmlformats.org/drawingml/2006/main" noGrp="1"/>
          </p:cNvSpPr>
          <p:nvPr/>
        </p:nvSpPr>
        <p:spPr>
          <a:xfrm xmlns:a="http://schemas.openxmlformats.org/drawingml/2006/main">
            <a:off x="609600" y="338137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Offline examples</a:t>
            </a:r>
          </a:p>
        </p:txBody>
      </p:sp>
      <p:sp>
        <p:nvSpPr>
          <p:cNvPr id="7" name="">
            <a:extLst xmlns:a="http://schemas.openxmlformats.org/drawingml/2006/main">
              <a:ext uri="{FF2B5EF4-FFF2-40B4-BE49-F238E27FC236}">
                <a16:creationId xmlns:a16="http://schemas.microsoft.com/office/drawing/2014/main" id="{8AD0A8E4-F728-424E-8EFB-DC050117B396}"/>
              </a:ext>
            </a:extLst>
          </p:cNvPr>
          <p:cNvSpPr>
            <a:spLocks xmlns:a="http://schemas.openxmlformats.org/drawingml/2006/main" noGrp="1"/>
          </p:cNvSpPr>
          <p:nvPr/>
        </p:nvSpPr>
        <p:spPr>
          <a:xfrm xmlns:a="http://schemas.openxmlformats.org/drawingml/2006/main">
            <a:off x="609600" y="39719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python run.py --sample --all</a:t>
            </a:r>
          </a:p>
        </p:txBody>
      </p:sp>
      <p:sp>
        <p:nvSpPr>
          <p:cNvPr id="8" name="">
            <a:extLst xmlns:a="http://schemas.openxmlformats.org/drawingml/2006/main">
              <a:ext uri="{FF2B5EF4-FFF2-40B4-BE49-F238E27FC236}">
                <a16:creationId xmlns:a16="http://schemas.microsoft.com/office/drawing/2014/main" id="{F595AB2D-5071-459C-9B8F-07C52839FBB4}"/>
              </a:ext>
            </a:extLst>
          </p:cNvPr>
          <p:cNvSpPr>
            <a:spLocks xmlns:a="http://schemas.openxmlformats.org/drawingml/2006/main" noGrp="1"/>
          </p:cNvSpPr>
          <p:nvPr/>
        </p:nvSpPr>
        <p:spPr>
          <a:xfrm xmlns:a="http://schemas.openxmlformats.org/drawingml/2006/main">
            <a:off x="609600" y="488632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Live evaluation</a:t>
            </a:r>
          </a:p>
        </p:txBody>
      </p:sp>
      <p:sp>
        <p:nvSpPr>
          <p:cNvPr id="9" name="">
            <a:extLst xmlns:a="http://schemas.openxmlformats.org/drawingml/2006/main">
              <a:ext uri="{FF2B5EF4-FFF2-40B4-BE49-F238E27FC236}">
                <a16:creationId xmlns:a16="http://schemas.microsoft.com/office/drawing/2014/main" id="{045FA5E3-A3B4-4CBD-BAEF-280A9F456221}"/>
              </a:ext>
            </a:extLst>
          </p:cNvPr>
          <p:cNvSpPr>
            <a:spLocks xmlns:a="http://schemas.openxmlformats.org/drawingml/2006/main" noGrp="1"/>
          </p:cNvSpPr>
          <p:nvPr/>
        </p:nvSpPr>
        <p:spPr>
          <a:xfrm xmlns:a="http://schemas.openxmlformats.org/drawingml/2006/main">
            <a:off x="609600" y="542925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D5E4EC"/>
                </a:solidFill>
                <a:latin typeface="Arial"/>
                <a:ea typeface="Arial"/>
                <a:cs typeface="Arial"/>
              </a:defRPr>
            </a:defPPr>
            <a:lvl1pPr>
              <a:defRPr sz="2100" b="0">
                <a:solidFill>
                  <a:srgbClr val="D5E4EC"/>
                </a:solidFill>
                <a:latin typeface="Arial"/>
                <a:ea typeface="Arial"/>
                <a:cs typeface="Arial"/>
              </a:defRPr>
            </a:lvl1pPr>
            <a:lvl2pPr>
              <a:defRPr sz="2100" b="0">
                <a:solidFill>
                  <a:srgbClr val="D5E4EC"/>
                </a:solidFill>
                <a:latin typeface="Arial"/>
                <a:ea typeface="Arial"/>
                <a:cs typeface="Arial"/>
              </a:defRPr>
            </a:lvl2pPr>
            <a:lvl3pPr>
              <a:defRPr sz="2100" b="0">
                <a:solidFill>
                  <a:srgbClr val="D5E4EC"/>
                </a:solidFill>
                <a:latin typeface="Arial"/>
                <a:ea typeface="Arial"/>
                <a:cs typeface="Arial"/>
              </a:defRPr>
            </a:lvl3pPr>
            <a:lvl4pPr>
              <a:defRPr sz="2100" b="0">
                <a:solidFill>
                  <a:srgbClr val="D5E4EC"/>
                </a:solidFill>
                <a:latin typeface="Arial"/>
                <a:ea typeface="Arial"/>
                <a:cs typeface="Arial"/>
              </a:defRPr>
            </a:lvl4pPr>
            <a:lvl5pPr>
              <a:defRPr sz="2100" b="0">
                <a:solidFill>
                  <a:srgbClr val="D5E4EC"/>
                </a:solidFill>
                <a:latin typeface="Arial"/>
                <a:ea typeface="Arial"/>
                <a:cs typeface="Arial"/>
              </a:defRPr>
            </a:lvl5pPr>
            <a:lvl6pPr>
              <a:defRPr sz="2100" b="0">
                <a:solidFill>
                  <a:srgbClr val="D5E4EC"/>
                </a:solidFill>
                <a:latin typeface="Arial"/>
                <a:ea typeface="Arial"/>
                <a:cs typeface="Arial"/>
              </a:defRPr>
            </a:lvl6pPr>
            <a:lvl7pPr>
              <a:defRPr sz="2100" b="0">
                <a:solidFill>
                  <a:srgbClr val="D5E4EC"/>
                </a:solidFill>
                <a:latin typeface="Arial"/>
                <a:ea typeface="Arial"/>
                <a:cs typeface="Arial"/>
              </a:defRPr>
            </a:lvl7pPr>
            <a:lvl8pPr>
              <a:defRPr sz="2100" b="0">
                <a:solidFill>
                  <a:srgbClr val="D5E4EC"/>
                </a:solidFill>
                <a:latin typeface="Arial"/>
                <a:ea typeface="Arial"/>
                <a:cs typeface="Arial"/>
              </a:defRPr>
            </a:lvl8pPr>
            <a:lvl9pPr>
              <a:defRPr sz="2100" b="0">
                <a:solidFill>
                  <a:srgbClr val="D5E4EC"/>
                </a:solidFill>
                <a:latin typeface="Arial"/>
                <a:ea typeface="Arial"/>
                <a:cs typeface="Arial"/>
              </a:defRPr>
            </a:lvl9pPr>
          </a:lstStyle>
          <a:p xmlns:a="http://schemas.openxmlformats.org/drawingml/2006/main">
            <a:pPr>
              <a:defRPr sz="2100" b="0">
                <a:solidFill>
                  <a:srgbClr val="D5E4EC"/>
                </a:solidFill>
                <a:latin typeface="Arial"/>
                <a:ea typeface="Arial"/>
                <a:cs typeface="Arial"/>
              </a:defRPr>
            </a:pPr>
            <a:r>
              <a:rPr sz="2100" b="0">
                <a:solidFill>
                  <a:srgbClr val="D5E4EC"/>
                </a:solidFill>
                <a:latin typeface="Arial"/>
                <a:ea typeface="Arial"/>
                <a:cs typeface="Arial"/>
              </a:rPr>
              <a:t>Two-machine setup, real sponsor calls and complete alert recovery</a:t>
            </a:r>
          </a:p>
        </p:txBody>
      </p:sp>
    </p:spTree>
    <p:extLst>
      <p:ext uri="{BB962C8B-B14F-4D97-AF65-F5344CB8AC3E}">
        <p14:creationId xmlns:p14="http://schemas.microsoft.com/office/powerpoint/2010/main" val="2682077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2026-10-27T00:42:52.9100000Z</dcterms:created>
  <dcterms:modified xsi:type="dcterms:W3CDTF">2026-10-27T00:42:52.9110000Z</dcterms:modified>
</coreProperties>
</file>